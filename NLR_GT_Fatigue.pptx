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66" r:id="rId5"/>
    <p:sldId id="401" r:id="rId6"/>
    <p:sldId id="408" r:id="rId7"/>
    <p:sldId id="405" r:id="rId8"/>
    <p:sldId id="411" r:id="rId9"/>
    <p:sldId id="410" r:id="rId10"/>
    <p:sldId id="370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1008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B159DB9-AE28-052D-EACA-F854DAEAC9E7}" name="Clark, Beth" initials="BC" userId="S::bclark@nrel.gov::6f3266a4-158e-40d0-912b-0a94cb5e73d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ynn Schroeder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CBCB"/>
    <a:srgbClr val="0075BB"/>
    <a:srgbClr val="CCCCCC"/>
    <a:srgbClr val="E1E1E1"/>
    <a:srgbClr val="EFEFEF"/>
    <a:srgbClr val="C0C0C0"/>
    <a:srgbClr val="B5B5B5"/>
    <a:srgbClr val="CDCDCD"/>
    <a:srgbClr val="32416B"/>
    <a:srgbClr val="3945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5" autoAdjust="0"/>
    <p:restoredTop sz="94795"/>
  </p:normalViewPr>
  <p:slideViewPr>
    <p:cSldViewPr snapToGrid="0">
      <p:cViewPr varScale="1">
        <p:scale>
          <a:sx n="143" d="100"/>
          <a:sy n="143" d="100"/>
        </p:scale>
        <p:origin x="704" y="192"/>
      </p:cViewPr>
      <p:guideLst>
        <p:guide pos="1008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48"/>
    </p:cViewPr>
  </p:sorterViewPr>
  <p:notesViewPr>
    <p:cSldViewPr snapToGrid="0">
      <p:cViewPr>
        <p:scale>
          <a:sx n="1" d="2"/>
          <a:sy n="1" d="2"/>
        </p:scale>
        <p:origin x="4085" y="1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C62C283-8B25-4E99-BA37-A6FD5B90B6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31EE5-5610-40A4-B840-CD2FB1E646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BFBF5-9F8A-40B1-88F4-AFAE0BF032A6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9C3F4-5B46-4B42-A455-56E0CC4F70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69E3E9-4AB4-4B8E-B9D1-E9F9AFC4E5F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5CC656-0990-4576-BC00-328E448F3A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75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7FED6-1CE0-9E49-8E28-4BC1AFD39CD7}" type="datetimeFigureOut">
              <a:rPr lang="en-US"/>
              <a:t>10/20/26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285793-58F2-5D45-93FF-B0076DA99FD1}" type="slidenum">
              <a:r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0338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D9DD4C-2C51-6381-977D-946A874E87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B6F0A1-CB8B-EC2C-BA35-69FD40B9E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2111654"/>
            <a:ext cx="4496935" cy="920191"/>
          </a:xfrm>
          <a:prstGeom prst="rect">
            <a:avLst/>
          </a:prstGeom>
        </p:spPr>
        <p:txBody>
          <a:bodyPr bIns="0" anchor="ctr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165D1E6-74E3-D3A1-A811-052CC9CA52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3053617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CE04EF3-923D-201C-649E-9A709AD764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2"/>
            <a:ext cx="2897704" cy="49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050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- D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00C934-D4AA-C547-F254-28EA8656CC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53434CCC-6EFD-7C5D-44CF-AC47A1521F7A}"/>
              </a:ext>
            </a:extLst>
          </p:cNvPr>
          <p:cNvSpPr/>
          <p:nvPr userDrawn="1"/>
        </p:nvSpPr>
        <p:spPr>
          <a:xfrm flipH="1">
            <a:off x="3736972" y="1365809"/>
            <a:ext cx="5407028" cy="2110362"/>
          </a:xfrm>
          <a:prstGeom prst="round1Rect">
            <a:avLst/>
          </a:prstGeom>
          <a:solidFill>
            <a:schemeClr val="tx2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33F6BF7D-C346-8B85-15A9-F66E687610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2463794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Venue or Organization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2FC481-075A-B2B0-6D31-B82D9272AB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2"/>
            <a:ext cx="2897704" cy="4987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5E4D7D4-E40E-AFC7-6997-7ECCA3FB99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1536699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87299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A225CB-CD23-F7BC-5267-1CE7E47D53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AAF3343D-5494-2952-6518-2EC533073D3B}"/>
              </a:ext>
            </a:extLst>
          </p:cNvPr>
          <p:cNvSpPr/>
          <p:nvPr userDrawn="1"/>
        </p:nvSpPr>
        <p:spPr>
          <a:xfrm flipH="1">
            <a:off x="3736972" y="1293238"/>
            <a:ext cx="5407028" cy="2110362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ADED627-213A-516F-ADD9-61EDBDA05C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2420959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53F896-FDD3-1ED6-72A7-F7A574082C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3C03664-F9BC-6430-82A9-527CA31AB9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1497708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48324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02 - D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42C60-04B2-41B3-C291-AECB8D9683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B83B3C1-F54D-D8B9-2D88-22D275C945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1922" y="2313919"/>
            <a:ext cx="5991907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ACF24C-224E-F864-4153-01FC31478D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83453" y="329992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94C7490C-E4E8-A92E-B860-C80E8619E7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921" y="1349654"/>
            <a:ext cx="5991907" cy="94196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15783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6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anded 02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941F43-0F18-4FF2-503C-B6D2F9CCEE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E11A61A-EB8D-2DC7-6470-E03B1016DD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91922" y="2276749"/>
            <a:ext cx="5984649" cy="824860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DDA84-18CD-86D1-1ADE-9B6482C65F7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88468" y="329991"/>
            <a:ext cx="2897704" cy="498785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5BE9BA3-0A91-8BD6-EE9C-8B6D43919B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922" y="1349654"/>
            <a:ext cx="5984649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573558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E9EC95-41F7-2267-D97D-2564C1DD2B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0299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364AE-AD7D-C1B5-C5E2-C5A95DE28D8F}"/>
              </a:ext>
            </a:extLst>
          </p:cNvPr>
          <p:cNvSpPr txBox="1"/>
          <p:nvPr userDrawn="1"/>
        </p:nvSpPr>
        <p:spPr>
          <a:xfrm>
            <a:off x="467454" y="4830962"/>
            <a:ext cx="3379927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ln>
                  <a:noFill/>
                </a:ln>
                <a:solidFill>
                  <a:schemeClr val="bg1"/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Josh Bauer, National Laboratory of the Rockies 061725</a:t>
            </a:r>
          </a:p>
        </p:txBody>
      </p:sp>
      <p:sp>
        <p:nvSpPr>
          <p:cNvPr id="7" name="Round Single Corner Rectangle 6">
            <a:extLst>
              <a:ext uri="{FF2B5EF4-FFF2-40B4-BE49-F238E27FC236}">
                <a16:creationId xmlns:a16="http://schemas.microsoft.com/office/drawing/2014/main" id="{6792AF47-E7C7-1687-986F-424B2B8B44E9}"/>
              </a:ext>
            </a:extLst>
          </p:cNvPr>
          <p:cNvSpPr/>
          <p:nvPr userDrawn="1"/>
        </p:nvSpPr>
        <p:spPr>
          <a:xfrm flipH="1">
            <a:off x="3736972" y="1497532"/>
            <a:ext cx="5407028" cy="2110362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D3F29FE1-C7DD-E11D-86DE-1F6185BB5D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2595517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37D133-B612-6ACF-5F18-5A8461C904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A53D79BC-0DE6-4715-D3EC-9646E1CD25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1667896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389722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3CCF46E-8401-A9EC-5B10-C510F7A87E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AAAC0E-AB07-BC2E-5852-EC8D6A6695EF}"/>
              </a:ext>
            </a:extLst>
          </p:cNvPr>
          <p:cNvSpPr txBox="1"/>
          <p:nvPr userDrawn="1"/>
        </p:nvSpPr>
        <p:spPr>
          <a:xfrm>
            <a:off x="467454" y="4830962"/>
            <a:ext cx="2839338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ln>
                  <a:noFill/>
                </a:ln>
                <a:solidFill>
                  <a:schemeClr val="bg1">
                    <a:alpha val="67000"/>
                  </a:schemeClr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from Adobe Stock 256750697</a:t>
            </a:r>
          </a:p>
        </p:txBody>
      </p:sp>
      <p:sp>
        <p:nvSpPr>
          <p:cNvPr id="5" name="Round Single Corner Rectangle 4">
            <a:extLst>
              <a:ext uri="{FF2B5EF4-FFF2-40B4-BE49-F238E27FC236}">
                <a16:creationId xmlns:a16="http://schemas.microsoft.com/office/drawing/2014/main" id="{C1C2E2C6-182B-B6D4-0359-3E61E2CF965E}"/>
              </a:ext>
            </a:extLst>
          </p:cNvPr>
          <p:cNvSpPr/>
          <p:nvPr userDrawn="1"/>
        </p:nvSpPr>
        <p:spPr>
          <a:xfrm flipH="1">
            <a:off x="3736972" y="2181895"/>
            <a:ext cx="5407028" cy="2110362"/>
          </a:xfrm>
          <a:prstGeom prst="round1Rect">
            <a:avLst/>
          </a:prstGeom>
          <a:solidFill>
            <a:schemeClr val="accent1">
              <a:alpha val="75762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A4C6B14F-9419-55EC-44A1-9567F3C0B9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3317050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152E85-7CEF-D49C-29B6-F09A95492F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7A60DFAC-2F80-284C-62E9-8383FC6A60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2386365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6437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73D906-1FFB-1CF2-B08C-FE077D907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0300" cy="5143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B9B396-1CF7-263B-DE68-7319423F728A}"/>
              </a:ext>
            </a:extLst>
          </p:cNvPr>
          <p:cNvSpPr txBox="1"/>
          <p:nvPr userDrawn="1"/>
        </p:nvSpPr>
        <p:spPr>
          <a:xfrm>
            <a:off x="467454" y="4830962"/>
            <a:ext cx="3224652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 dirty="0">
                <a:ln>
                  <a:noFill/>
                </a:ln>
                <a:solidFill>
                  <a:schemeClr val="bg1">
                    <a:alpha val="74000"/>
                  </a:schemeClr>
                </a:solidFill>
                <a:effectLst>
                  <a:outerShdw blurRad="139700" dir="5400000" algn="t" rotWithShape="0">
                    <a:prstClr val="black"/>
                  </a:outerShdw>
                </a:effectLst>
              </a:rPr>
              <a:t>Photo by Agata Bogucka, National Laboratory of the Rockies 091683</a:t>
            </a:r>
          </a:p>
        </p:txBody>
      </p:sp>
      <p:sp>
        <p:nvSpPr>
          <p:cNvPr id="14" name="Round Single Corner Rectangle 13">
            <a:extLst>
              <a:ext uri="{FF2B5EF4-FFF2-40B4-BE49-F238E27FC236}">
                <a16:creationId xmlns:a16="http://schemas.microsoft.com/office/drawing/2014/main" id="{1354C242-52B2-0A8E-DF08-928107CFF092}"/>
              </a:ext>
            </a:extLst>
          </p:cNvPr>
          <p:cNvSpPr/>
          <p:nvPr userDrawn="1"/>
        </p:nvSpPr>
        <p:spPr>
          <a:xfrm flipH="1">
            <a:off x="3736972" y="2434937"/>
            <a:ext cx="5407028" cy="2110362"/>
          </a:xfrm>
          <a:prstGeom prst="round1Rect">
            <a:avLst/>
          </a:prstGeom>
          <a:solidFill>
            <a:schemeClr val="tx2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72CAE8-6D7A-F23E-6877-ABC080108F5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35865" y="3540356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1490B-2E65-A106-CD72-77502C1F7A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205" y="329991"/>
            <a:ext cx="2897704" cy="498785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0FF7A0BC-C237-67D8-E74E-0D2F620BDE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5865" y="2611471"/>
            <a:ext cx="4496935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3746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Insert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1DAA1895-BC9B-D608-8F60-D1D9BE14EC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044" y="3046183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Presenter Name</a:t>
            </a:r>
            <a:br>
              <a:rPr lang="en-US" dirty="0"/>
            </a:br>
            <a:r>
              <a:rPr lang="en-US" dirty="0"/>
              <a:t>Venue or Organization</a:t>
            </a:r>
            <a:br>
              <a:rPr lang="en-US" dirty="0"/>
            </a:br>
            <a:r>
              <a:rPr lang="en-US" dirty="0"/>
              <a:t>Date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C68E19A-77B9-49C1-6434-A646F69436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85064" y="0"/>
            <a:ext cx="3858936" cy="51435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AAA28FA-83CC-2896-F9E3-B756D4A6D3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8205" y="329992"/>
            <a:ext cx="2897704" cy="4987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DE7C34-4E0E-4B5C-FAC7-B78A450607B4}"/>
              </a:ext>
            </a:extLst>
          </p:cNvPr>
          <p:cNvSpPr txBox="1"/>
          <p:nvPr userDrawn="1"/>
        </p:nvSpPr>
        <p:spPr>
          <a:xfrm>
            <a:off x="567207" y="4830962"/>
            <a:ext cx="3224652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 dirty="0">
                <a:ln>
                  <a:noFill/>
                </a:ln>
                <a:solidFill>
                  <a:schemeClr val="tx1">
                    <a:alpha val="45289"/>
                  </a:schemeClr>
                </a:solidFill>
                <a:effectLst/>
              </a:rPr>
              <a:t>Photo / Image Credit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83551F-AABC-6EF1-032D-22E6AEBD61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2044" y="2080666"/>
            <a:ext cx="4496935" cy="94196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39143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273DCF93-8510-20FB-3AC3-FB0D2432C7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7372" y="1072700"/>
            <a:ext cx="3979863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17957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C75E7-7BFD-4A75-83A1-67A33697740C}"/>
              </a:ext>
            </a:extLst>
          </p:cNvPr>
          <p:cNvSpPr txBox="1"/>
          <p:nvPr userDrawn="1"/>
        </p:nvSpPr>
        <p:spPr>
          <a:xfrm>
            <a:off x="6711702" y="4840514"/>
            <a:ext cx="22795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02A84B4-4231-D57B-0394-9A45075BF7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5" y="1072700"/>
            <a:ext cx="3964404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305380-DFD5-07AB-CD90-D29D63B6F305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D0201A-9396-B2CD-9366-853DA3A88E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49512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>
            <a:extLst>
              <a:ext uri="{FF2B5EF4-FFF2-40B4-BE49-F238E27FC236}">
                <a16:creationId xmlns:a16="http://schemas.microsoft.com/office/drawing/2014/main" id="{03554E28-3E97-3A4B-70F7-3222381A2D7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9FE4844-2EAA-D15C-61E1-DAB24CB71C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4" y="1072700"/>
            <a:ext cx="3964404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6C333C1-CAD2-04B8-1D50-AEA24EC66B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7374" y="1072700"/>
            <a:ext cx="3979863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17957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62E0FA8-08AE-655A-CADD-96B5C04E1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55963" y="73105"/>
            <a:ext cx="6524170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57078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66B6C6E8-42C3-4A1F-BB59-EF4B7F76FB04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39CADBED-3E11-D19F-95D9-44B761356F6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2224" y="1072700"/>
            <a:ext cx="3964404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38D825E5-1CA6-41E1-E519-C8FCDEE26E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7374" y="1072700"/>
            <a:ext cx="3979863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  <a:lvl5pPr marL="1179576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F66804-445E-D222-C035-80496AFF621E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9BA9307-901C-41BA-431E-B5D7E476C3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0"/>
            <a:ext cx="8697237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4850096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25148744-CE6B-2345-982F-B708871730D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1DEBF9-3758-DA93-AA3D-C23FBD14DC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776" y="1084202"/>
            <a:ext cx="8229599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C25243-AFF8-CA66-42ED-B0874ADB0EB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967F2DD-CC0E-9A8C-11B9-4AB04B0765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9411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7EEE770E-246E-0206-1601-8F53F7A4D0E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4EDB83C1-C315-3C43-5411-4464A5818B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776" y="1084202"/>
            <a:ext cx="8229599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C08251-99D2-8650-ACEF-FAA7CEDFBFA3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55A73BCC-7C77-ED51-CDDB-BCA14EB0D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524170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9821035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Text,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6">
            <a:extLst>
              <a:ext uri="{FF2B5EF4-FFF2-40B4-BE49-F238E27FC236}">
                <a16:creationId xmlns:a16="http://schemas.microsoft.com/office/drawing/2014/main" id="{ABB491D7-A7E8-A790-CACC-720C7E26E8B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C152276-827A-02BC-0DC5-4CC3B06DE3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2776" y="1084202"/>
            <a:ext cx="8229599" cy="3657767"/>
          </a:xfrm>
        </p:spPr>
        <p:txBody>
          <a:bodyPr>
            <a:normAutofit/>
          </a:bodyPr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2A2C5F-CDE0-6BB8-6E35-F669154D5033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F702C34-550B-FC0D-BE6A-D64619DED4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2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8112299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1EBAF4BA-2B40-86B2-5ADE-9DA106E78E0F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0EDF3F-AEE8-23DF-D9AB-E5ECAF60F1DC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95F108D-D957-340C-CD8D-EE49448FE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62695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088C1BDB-E839-FA07-66EB-45D378D6371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819223-D2CF-449A-554E-9338F3140A6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B1B414-DD67-0152-95D7-310B816F11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524170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367864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3 - No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4CEC5CC2-C1FF-21BD-310A-D826E85383F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443FF4-29A1-7FCF-2469-127278E01EDD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C6AD35-88FC-B503-10AF-AC3C42219B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2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3771149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Simple Slide -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87572870-5A6A-D096-798A-DCE28A4F21D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7200" y="1074738"/>
            <a:ext cx="5149780" cy="36734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3DF340F5-B924-BD4B-06F9-27A24891BF9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5E2B7A63-17EC-7451-96C1-F5584277787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952392" y="1147842"/>
            <a:ext cx="2734407" cy="3180455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7F3620F7-CA2F-81A4-5E9F-BB95218A8E6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53125" y="4540250"/>
            <a:ext cx="2533650" cy="207963"/>
          </a:xfrm>
        </p:spPr>
        <p:txBody>
          <a:bodyPr vert="horz" lIns="0" tIns="0" rIns="0" bIns="0" rtlCol="0">
            <a:normAutofit/>
          </a:bodyPr>
          <a:lstStyle>
            <a:lvl1pPr>
              <a:buNone/>
              <a:defRPr lang="en-US" sz="600" i="1" smtClean="0">
                <a:solidFill>
                  <a:srgbClr val="CBCBCB"/>
                </a:solidFill>
              </a:defRPr>
            </a:lvl1pPr>
            <a:lvl2pPr>
              <a:defRPr lang="en-US" sz="600" i="1" smtClean="0">
                <a:solidFill>
                  <a:srgbClr val="CBCBCB"/>
                </a:solidFill>
              </a:defRPr>
            </a:lvl2pPr>
            <a:lvl3pPr>
              <a:defRPr lang="en-US" sz="600" i="1" smtClean="0">
                <a:solidFill>
                  <a:srgbClr val="CBCBCB"/>
                </a:solidFill>
              </a:defRPr>
            </a:lvl3pPr>
            <a:lvl4pPr>
              <a:defRPr lang="en-US" sz="600" i="1" smtClean="0">
                <a:solidFill>
                  <a:srgbClr val="CBCBCB"/>
                </a:solidFill>
              </a:defRPr>
            </a:lvl4pPr>
            <a:lvl5pPr>
              <a:defRPr lang="en-US" sz="600" i="1">
                <a:solidFill>
                  <a:srgbClr val="CBCBCB"/>
                </a:solidFill>
              </a:defRPr>
            </a:lvl5pPr>
          </a:lstStyle>
          <a:p>
            <a:pPr marL="219456" lvl="0" indent="-219456"/>
            <a:r>
              <a:rPr lang="en-US" dirty="0"/>
              <a:t>Photo/image credit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B2C70-F8D1-FA45-649F-7232BEB9CA15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9129A2-F737-6639-2645-8FF7B1D95F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5900057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 + Image</a:t>
            </a:r>
          </a:p>
        </p:txBody>
      </p:sp>
    </p:spTree>
    <p:extLst>
      <p:ext uri="{BB962C8B-B14F-4D97-AF65-F5344CB8AC3E}">
        <p14:creationId xmlns:p14="http://schemas.microsoft.com/office/powerpoint/2010/main" val="38591145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– 3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>
            <a:extLst>
              <a:ext uri="{FF2B5EF4-FFF2-40B4-BE49-F238E27FC236}">
                <a16:creationId xmlns:a16="http://schemas.microsoft.com/office/drawing/2014/main" id="{AA8100CA-4516-4623-AF1E-58E3E9F1A04F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D75A950D-7FD4-6191-2A15-8300C9BE89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129" y="1047749"/>
            <a:ext cx="6405563" cy="755929"/>
          </a:xfrm>
        </p:spPr>
        <p:txBody>
          <a:bodyPr/>
          <a:lstStyle>
            <a:lvl1pPr>
              <a:buFont typeface="Arial" panose="020B0604020202020204" pitchFamily="34" charset="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5">
            <a:extLst>
              <a:ext uri="{FF2B5EF4-FFF2-40B4-BE49-F238E27FC236}">
                <a16:creationId xmlns:a16="http://schemas.microsoft.com/office/drawing/2014/main" id="{94945111-E324-0A0B-4A4F-90E085F4582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7017" y="2030412"/>
            <a:ext cx="2452687" cy="2596853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5">
            <a:extLst>
              <a:ext uri="{FF2B5EF4-FFF2-40B4-BE49-F238E27FC236}">
                <a16:creationId xmlns:a16="http://schemas.microsoft.com/office/drawing/2014/main" id="{A2C6E35C-CBC9-87A5-C98A-CFA0D08BBBC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71892" y="2030412"/>
            <a:ext cx="2452687" cy="2596853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45">
            <a:extLst>
              <a:ext uri="{FF2B5EF4-FFF2-40B4-BE49-F238E27FC236}">
                <a16:creationId xmlns:a16="http://schemas.microsoft.com/office/drawing/2014/main" id="{130942A5-3505-1222-55B2-500533F6F4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06767" y="2030412"/>
            <a:ext cx="2452687" cy="2596853"/>
          </a:xfrm>
          <a:solidFill>
            <a:schemeClr val="bg2"/>
          </a:solidFill>
        </p:spPr>
        <p:txBody>
          <a:bodyPr lIns="91440" tIns="91440" rIns="91440" bIns="9144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27A96F-4C15-0F91-208B-5236FE7313AE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7633EE29-3B6D-95AE-E03F-8068D635E2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2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24098197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3">
            <a:extLst>
              <a:ext uri="{FF2B5EF4-FFF2-40B4-BE49-F238E27FC236}">
                <a16:creationId xmlns:a16="http://schemas.microsoft.com/office/drawing/2014/main" id="{474FD46F-2428-2F85-0A98-19BC8E00CE61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606A2CF-2063-A93D-1E9C-82E53E6121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7200" y="3114006"/>
            <a:ext cx="2651760" cy="1485101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3EC11FDD-73DB-0CB7-0D7D-B1E0E52E2E1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246120" y="3114006"/>
            <a:ext cx="2651760" cy="1485101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9DCB6057-50CF-29BC-8890-0625EDA1387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35040" y="3114006"/>
            <a:ext cx="2651760" cy="1485101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image here</a:t>
            </a:r>
          </a:p>
        </p:txBody>
      </p:sp>
      <p:sp>
        <p:nvSpPr>
          <p:cNvPr id="8" name="Chart Placeholder 6">
            <a:extLst>
              <a:ext uri="{FF2B5EF4-FFF2-40B4-BE49-F238E27FC236}">
                <a16:creationId xmlns:a16="http://schemas.microsoft.com/office/drawing/2014/main" id="{6481AE08-8BDD-9767-AAE8-2796C127DF8A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765432" y="1089327"/>
            <a:ext cx="3921368" cy="1852652"/>
          </a:xfrm>
          <a:prstGeom prst="rect">
            <a:avLst/>
          </a:prstGeom>
          <a:solidFill>
            <a:schemeClr val="bg2"/>
          </a:solidFill>
        </p:spPr>
        <p:txBody>
          <a:bodyPr vert="horz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DE7D43B7-7ED7-14CD-E9CD-ED09E2F669D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57200" y="1029207"/>
            <a:ext cx="4099727" cy="187419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A3B113F0-5058-EDE3-8BA5-62F0383233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55962" y="4647800"/>
            <a:ext cx="2642419" cy="170386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2" name="Text Placeholder 24">
            <a:extLst>
              <a:ext uri="{FF2B5EF4-FFF2-40B4-BE49-F238E27FC236}">
                <a16:creationId xmlns:a16="http://schemas.microsoft.com/office/drawing/2014/main" id="{D523EA33-83E0-61A5-165D-479F3FA069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38850" y="4657325"/>
            <a:ext cx="2647950" cy="170386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4" name="Text Placeholder 22">
            <a:extLst>
              <a:ext uri="{FF2B5EF4-FFF2-40B4-BE49-F238E27FC236}">
                <a16:creationId xmlns:a16="http://schemas.microsoft.com/office/drawing/2014/main" id="{CE38D407-F19B-0194-3A21-6222D789EF2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66541" y="4647800"/>
            <a:ext cx="2642419" cy="170386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F10539-30F3-4137-FEBE-C4A450C015E6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9">
            <a:extLst>
              <a:ext uri="{FF2B5EF4-FFF2-40B4-BE49-F238E27FC236}">
                <a16:creationId xmlns:a16="http://schemas.microsoft.com/office/drawing/2014/main" id="{E129E260-2FA4-8CA1-7FBA-E732A5666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443984" cy="90525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defRPr sz="2500"/>
            </a:lvl1pPr>
          </a:lstStyle>
          <a:p>
            <a:r>
              <a:rPr lang="en-US" dirty="0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1498859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–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9">
            <a:extLst>
              <a:ext uri="{FF2B5EF4-FFF2-40B4-BE49-F238E27FC236}">
                <a16:creationId xmlns:a16="http://schemas.microsoft.com/office/drawing/2014/main" id="{36CA958A-1F5F-2496-8D28-E74C6A204A97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4226130-4780-805B-7641-AA662B760B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1" y="374650"/>
            <a:ext cx="3964404" cy="4429579"/>
          </a:xfrm>
        </p:spPr>
        <p:txBody>
          <a:bodyPr>
            <a:normAutofit/>
          </a:bodyPr>
          <a:lstStyle>
            <a:lvl1pPr indent="-2286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185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2" userDrawn="1">
          <p15:clr>
            <a:srgbClr val="FBAE40"/>
          </p15:clr>
        </p15:guide>
        <p15:guide id="2" pos="235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– no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51224578-8E67-64B3-6F6D-A427F8213408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National Laboratory of the Rockies</a:t>
            </a:r>
            <a:r>
              <a:rPr lang="en-US" sz="750" baseline="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750" dirty="0">
                <a:latin typeface="Arial" panose="020B0604020202020204" pitchFamily="34" charset="0"/>
                <a:cs typeface="Arial" panose="020B0604020202020204" pitchFamily="34" charset="0"/>
              </a:rPr>
              <a:t>|    </a:t>
            </a:r>
            <a:fld id="{BFD71CF8-5198-8441-A7C0-DC22FD64CBE4}" type="slidenum">
              <a:rPr lang="en-US" sz="750" smtClean="0">
                <a:latin typeface="Arial" panose="020B0604020202020204" pitchFamily="34" charset="0"/>
                <a:cs typeface="Arial" panose="020B0604020202020204" pitchFamily="34" charset="0"/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987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52" userDrawn="1">
          <p15:clr>
            <a:srgbClr val="FBAE40"/>
          </p15:clr>
        </p15:guide>
        <p15:guide id="2" pos="2448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Dun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70021" y="2967059"/>
            <a:ext cx="4588564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E67DE-D090-4E05-A78B-1B661FF15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857" y="1252017"/>
            <a:ext cx="4599810" cy="1358834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4185410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Mes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67879" y="2961483"/>
            <a:ext cx="4601998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647" y="1252017"/>
            <a:ext cx="4613277" cy="1358834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251517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Rocky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 cmpd="sng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67879" y="2961483"/>
            <a:ext cx="4601998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647" y="1252017"/>
            <a:ext cx="4613277" cy="1358834"/>
          </a:xfrm>
          <a:prstGeom prst="rect">
            <a:avLst/>
          </a:prstGeom>
          <a:noFill/>
        </p:spPr>
        <p:txBody>
          <a:bodyPr lIns="0" tIns="0" rIns="0" bIns="0" anchor="b" anchorCtr="0">
            <a:noAutofit/>
          </a:bodyPr>
          <a:lstStyle>
            <a:lvl1pPr algn="l"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8598367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Golden Su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>
          <a:xfrm>
            <a:off x="570335" y="2780783"/>
            <a:ext cx="4574979" cy="0"/>
          </a:xfrm>
          <a:prstGeom prst="line">
            <a:avLst/>
          </a:prstGeom>
          <a:ln w="28575" cap="rnd">
            <a:solidFill>
              <a:schemeClr val="tx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570021" y="2967059"/>
            <a:ext cx="4588564" cy="1101551"/>
          </a:xfrm>
        </p:spPr>
        <p:txBody>
          <a:bodyPr>
            <a:noAutofit/>
          </a:bodyPr>
          <a:lstStyle>
            <a:lvl1pPr marL="0" indent="0">
              <a:spcBef>
                <a:spcPts val="40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Subtitle or additional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E67DE-D090-4E05-A78B-1B661FF15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857" y="1252017"/>
            <a:ext cx="4599810" cy="1358834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algn="l"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Transition Slide Title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C69288-7B94-D2DA-9757-8C3C74DCB744}"/>
              </a:ext>
            </a:extLst>
          </p:cNvPr>
          <p:cNvSpPr txBox="1"/>
          <p:nvPr userDrawn="1"/>
        </p:nvSpPr>
        <p:spPr>
          <a:xfrm>
            <a:off x="5584166" y="113293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3189580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Mesa Blue - Large Photo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 dirty="0"/>
              <a:t>Insert large image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90973F-DA58-ECB7-8A31-C6E36A068E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65204"/>
            <a:ext cx="4572000" cy="1649186"/>
          </a:xfrm>
          <a:prstGeom prst="round1Rect">
            <a:avLst/>
          </a:prstGeom>
          <a:solidFill>
            <a:schemeClr val="tx2">
              <a:alpha val="68000"/>
            </a:schemeClr>
          </a:solidFill>
        </p:spPr>
        <p:txBody>
          <a:bodyPr lIns="91440" rIns="91440" anchor="ctr"/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Key Messaging</a:t>
            </a:r>
            <a:br>
              <a:rPr lang="en-US" dirty="0"/>
            </a:br>
            <a:r>
              <a:rPr lang="en-US" dirty="0"/>
              <a:t>Slide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19650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13299978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Rocky Blue -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19650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7779DF-0425-5F03-2ABE-0DCC89EFAB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65204"/>
            <a:ext cx="4572000" cy="1649186"/>
          </a:xfrm>
          <a:prstGeom prst="round1Rect">
            <a:avLst/>
          </a:prstGeom>
          <a:solidFill>
            <a:schemeClr val="accent1">
              <a:alpha val="68000"/>
            </a:schemeClr>
          </a:solidFill>
        </p:spPr>
        <p:txBody>
          <a:bodyPr lIns="91440" rIns="91440" anchor="ctr">
            <a:normAutofit/>
          </a:bodyPr>
          <a:lstStyle>
            <a:lvl1pPr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Key Messaging</a:t>
            </a:r>
            <a:br>
              <a:rPr lang="en-US" dirty="0"/>
            </a:br>
            <a:r>
              <a:rPr lang="en-US" dirty="0"/>
              <a:t>Slide One</a:t>
            </a:r>
          </a:p>
        </p:txBody>
      </p:sp>
    </p:spTree>
    <p:extLst>
      <p:ext uri="{BB962C8B-B14F-4D97-AF65-F5344CB8AC3E}">
        <p14:creationId xmlns:p14="http://schemas.microsoft.com/office/powerpoint/2010/main" val="2867565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ing Dune - 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600" baseline="0"/>
            </a:lvl1pPr>
          </a:lstStyle>
          <a:p>
            <a:r>
              <a:rPr lang="en-US"/>
              <a:t>Insert large image here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92DF99-1181-7C7A-8E4B-659899B4B0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565204"/>
            <a:ext cx="4572000" cy="1649186"/>
          </a:xfrm>
          <a:prstGeom prst="round1Rect">
            <a:avLst/>
          </a:prstGeom>
          <a:solidFill>
            <a:srgbClr val="EEEEEE"/>
          </a:solidFill>
        </p:spPr>
        <p:txBody>
          <a:bodyPr lIns="91440" rIns="91440" anchor="ctr">
            <a:normAutofit/>
          </a:bodyPr>
          <a:lstStyle>
            <a:lvl1pPr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Key Messaging</a:t>
            </a:r>
            <a:br>
              <a:rPr lang="en-US" dirty="0"/>
            </a:br>
            <a:r>
              <a:rPr lang="en-US" dirty="0"/>
              <a:t>Slide One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030D-4C76-415A-95F6-CB8F61DED0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19650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3164039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1428">
          <p15:clr>
            <a:srgbClr val="FBAE40"/>
          </p15:clr>
        </p15:guide>
        <p15:guide id="7" orient="horz" pos="1404">
          <p15:clr>
            <a:srgbClr val="FBAE40"/>
          </p15:clr>
        </p15:guide>
        <p15:guide id="8" orient="horz" pos="99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Slide -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6"/>
          <p:cNvSpPr>
            <a:spLocks noGrp="1"/>
          </p:cNvSpPr>
          <p:nvPr>
            <p:ph type="chart" sz="quarter" idx="11" hasCustomPrompt="1"/>
          </p:nvPr>
        </p:nvSpPr>
        <p:spPr>
          <a:xfrm>
            <a:off x="468313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0" name="Chart Placeholder 6"/>
          <p:cNvSpPr>
            <a:spLocks noGrp="1"/>
          </p:cNvSpPr>
          <p:nvPr>
            <p:ph type="chart" sz="quarter" idx="12" hasCustomPrompt="1"/>
          </p:nvPr>
        </p:nvSpPr>
        <p:spPr>
          <a:xfrm>
            <a:off x="6963599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1" name="Chart Placeholder 6"/>
          <p:cNvSpPr>
            <a:spLocks noGrp="1"/>
          </p:cNvSpPr>
          <p:nvPr>
            <p:ph type="chart" sz="quarter" idx="13" hasCustomPrompt="1"/>
          </p:nvPr>
        </p:nvSpPr>
        <p:spPr>
          <a:xfrm>
            <a:off x="4765926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2" name="Chart Placeholder 6"/>
          <p:cNvSpPr>
            <a:spLocks noGrp="1"/>
          </p:cNvSpPr>
          <p:nvPr>
            <p:ph type="chart" sz="quarter" idx="14" hasCustomPrompt="1"/>
          </p:nvPr>
        </p:nvSpPr>
        <p:spPr>
          <a:xfrm>
            <a:off x="2618059" y="2081080"/>
            <a:ext cx="1883539" cy="1436109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200"/>
            </a:lvl1pPr>
          </a:lstStyle>
          <a:p>
            <a:r>
              <a:rPr lang="en-US"/>
              <a:t>Insert Chart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BBB32518-80C2-490A-8EDF-A9BC4D5EE0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78288" y="413132"/>
            <a:ext cx="4768850" cy="128632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FD4793-29E8-C255-201E-B14E242DE00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2176" y="3652838"/>
            <a:ext cx="1903413" cy="68262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27D937D-C1DF-8E97-86B9-5B2B366CDC2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623073" y="3652838"/>
            <a:ext cx="1898650" cy="68897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6AD15F-B268-1255-D9D8-0B454AC3A19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778655" y="3652838"/>
            <a:ext cx="1893888" cy="71278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39B973-B61B-DBEF-0780-D24C5D66F3C3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962775" y="3652838"/>
            <a:ext cx="1884799" cy="72866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545109-91C5-45A6-3F76-A1835755197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tx1"/>
                </a:solidFill>
              </a:rPr>
              <a:t>National Laboratory of the Rockies</a:t>
            </a:r>
            <a:r>
              <a:rPr lang="en-US" sz="750" baseline="0">
                <a:solidFill>
                  <a:schemeClr val="tx1"/>
                </a:solidFill>
              </a:rPr>
              <a:t>    </a:t>
            </a:r>
            <a:r>
              <a:rPr lang="en-US" sz="75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tx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B5148D-CC96-6B66-D719-8F5FFA944BE7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0">
            <a:extLst>
              <a:ext uri="{FF2B5EF4-FFF2-40B4-BE49-F238E27FC236}">
                <a16:creationId xmlns:a16="http://schemas.microsoft.com/office/drawing/2014/main" id="{A0690749-C1C1-E3D1-F321-AA9565DBA9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3666941" cy="1699454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Data Slide: Keep </a:t>
            </a:r>
            <a:br>
              <a:rPr lang="en-US" dirty="0"/>
            </a:br>
            <a:r>
              <a:rPr lang="en-US" dirty="0"/>
              <a:t>Title Concise</a:t>
            </a:r>
          </a:p>
        </p:txBody>
      </p:sp>
    </p:spTree>
    <p:extLst>
      <p:ext uri="{BB962C8B-B14F-4D97-AF65-F5344CB8AC3E}">
        <p14:creationId xmlns:p14="http://schemas.microsoft.com/office/powerpoint/2010/main" val="24826876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Infographic Lar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icture Placeholder 28"/>
          <p:cNvSpPr>
            <a:spLocks noGrp="1"/>
          </p:cNvSpPr>
          <p:nvPr>
            <p:ph type="pic" sz="quarter" idx="49" hasCustomPrompt="1"/>
          </p:nvPr>
        </p:nvSpPr>
        <p:spPr>
          <a:xfrm>
            <a:off x="0" y="0"/>
            <a:ext cx="9144000" cy="51435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                                                                             Insert a large image here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40"/>
          </p:nvPr>
        </p:nvSpPr>
        <p:spPr>
          <a:xfrm>
            <a:off x="0" y="2561212"/>
            <a:ext cx="9144000" cy="1983121"/>
          </a:xfrm>
          <a:prstGeom prst="rect">
            <a:avLst/>
          </a:prstGeom>
          <a:solidFill>
            <a:schemeClr val="bg2">
              <a:alpha val="85000"/>
            </a:schemeClr>
          </a:solidFill>
        </p:spPr>
        <p:txBody>
          <a:bodyPr vert="horz"/>
          <a:lstStyle>
            <a:lvl1pPr marL="0" indent="0" algn="ctr">
              <a:buNone/>
              <a:defRPr sz="100">
                <a:solidFill>
                  <a:srgbClr val="333333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24"/>
          <p:cNvSpPr>
            <a:spLocks noGrp="1" noChangeAspect="1"/>
          </p:cNvSpPr>
          <p:nvPr>
            <p:ph type="pic" sz="quarter" idx="50" hasCustomPrompt="1"/>
          </p:nvPr>
        </p:nvSpPr>
        <p:spPr>
          <a:xfrm>
            <a:off x="490683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Insert icon</a:t>
            </a:r>
          </a:p>
        </p:txBody>
      </p:sp>
      <p:sp>
        <p:nvSpPr>
          <p:cNvPr id="35" name="Picture Placeholder 24"/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2239612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6" name="Picture Placeholder 24"/>
          <p:cNvSpPr>
            <a:spLocks noGrp="1" noChangeAspect="1"/>
          </p:cNvSpPr>
          <p:nvPr>
            <p:ph type="pic" sz="quarter" idx="52" hasCustomPrompt="1"/>
          </p:nvPr>
        </p:nvSpPr>
        <p:spPr>
          <a:xfrm>
            <a:off x="3926034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7" name="Picture Placeholder 24"/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5675688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38" name="Picture Placeholder 24"/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7336601" y="1962045"/>
            <a:ext cx="1291932" cy="129192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txBody>
          <a:bodyPr vert="horz" lIns="91440" tIns="91440" rIns="91440" bIns="91440" anchor="ctr" anchorCtr="0"/>
          <a:lstStyle>
            <a:lvl1pPr marL="0" indent="0" algn="ctr">
              <a:buNone/>
              <a:defRPr sz="1200">
                <a:solidFill>
                  <a:schemeClr val="bg1"/>
                </a:solidFill>
                <a:effectLst/>
              </a:defRPr>
            </a:lvl1pPr>
          </a:lstStyle>
          <a:p>
            <a:r>
              <a:rPr lang="en-US"/>
              <a:t>Insert icon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05006D69-EA13-4B2D-9C01-B58C393770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438" y="4881562"/>
            <a:ext cx="1645125" cy="1138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47" hasCustomPrompt="1"/>
          </p:nvPr>
        </p:nvSpPr>
        <p:spPr>
          <a:xfrm>
            <a:off x="7336601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48" hasCustomPrompt="1"/>
          </p:nvPr>
        </p:nvSpPr>
        <p:spPr>
          <a:xfrm>
            <a:off x="7336602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45" hasCustomPrompt="1"/>
          </p:nvPr>
        </p:nvSpPr>
        <p:spPr>
          <a:xfrm>
            <a:off x="5655659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46" hasCustomPrompt="1"/>
          </p:nvPr>
        </p:nvSpPr>
        <p:spPr>
          <a:xfrm>
            <a:off x="5655660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43" hasCustomPrompt="1"/>
          </p:nvPr>
        </p:nvSpPr>
        <p:spPr>
          <a:xfrm>
            <a:off x="3931141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2" name="Text Placeholder 17"/>
          <p:cNvSpPr>
            <a:spLocks noGrp="1"/>
          </p:cNvSpPr>
          <p:nvPr>
            <p:ph type="body" sz="quarter" idx="44" hasCustomPrompt="1"/>
          </p:nvPr>
        </p:nvSpPr>
        <p:spPr>
          <a:xfrm>
            <a:off x="3931142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41" hasCustomPrompt="1"/>
          </p:nvPr>
        </p:nvSpPr>
        <p:spPr>
          <a:xfrm>
            <a:off x="2194869" y="3793135"/>
            <a:ext cx="1336675" cy="570668"/>
          </a:xfrm>
          <a:prstGeom prst="rect">
            <a:avLst/>
          </a:prstGeom>
          <a:ln>
            <a:noFill/>
          </a:ln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000" baseline="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20" name="Text Placeholder 17"/>
          <p:cNvSpPr>
            <a:spLocks noGrp="1"/>
          </p:cNvSpPr>
          <p:nvPr>
            <p:ph type="body" sz="quarter" idx="42" hasCustomPrompt="1"/>
          </p:nvPr>
        </p:nvSpPr>
        <p:spPr>
          <a:xfrm>
            <a:off x="2194870" y="3389856"/>
            <a:ext cx="1336675" cy="326535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ctr">
              <a:buNone/>
              <a:defRPr sz="1400" baseline="0">
                <a:solidFill>
                  <a:schemeClr val="tx1"/>
                </a:solidFill>
              </a:defRPr>
            </a:lvl1pPr>
            <a:lvl2pPr marL="457200" indent="0">
              <a:buNone/>
              <a:defRPr sz="2200">
                <a:solidFill>
                  <a:srgbClr val="8DC63F"/>
                </a:solidFill>
              </a:defRPr>
            </a:lvl2pPr>
            <a:lvl3pPr marL="914400" indent="0">
              <a:buNone/>
              <a:defRPr sz="2200">
                <a:solidFill>
                  <a:srgbClr val="8DC63F"/>
                </a:solidFill>
              </a:defRPr>
            </a:lvl3pPr>
            <a:lvl4pPr marL="1371600" indent="0">
              <a:buNone/>
              <a:defRPr sz="2200">
                <a:solidFill>
                  <a:srgbClr val="8DC63F"/>
                </a:solidFill>
              </a:defRPr>
            </a:lvl4pPr>
            <a:lvl5pPr marL="1828800" indent="0">
              <a:buNone/>
              <a:defRPr sz="2200">
                <a:solidFill>
                  <a:srgbClr val="8DC63F"/>
                </a:solidFill>
              </a:defRPr>
            </a:lvl5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F547DDC-F696-4D14-A37E-2EF7474AC2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3389856"/>
            <a:ext cx="1336675" cy="326535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Emphasis Text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1D542F68-27CA-4381-B06E-F293CB5998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8314" y="3793136"/>
            <a:ext cx="1336674" cy="570668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Infographic information goes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0390E-E1C4-AA93-CA32-9ED58E9ED9C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tx1"/>
                </a:solidFill>
              </a:rPr>
              <a:t>National Laboratory of the Rockies</a:t>
            </a:r>
            <a:r>
              <a:rPr lang="en-US" sz="750" baseline="0">
                <a:solidFill>
                  <a:schemeClr val="tx1"/>
                </a:solidFill>
              </a:rPr>
              <a:t>    </a:t>
            </a:r>
            <a:r>
              <a:rPr lang="en-US" sz="75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tx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A4C71E-9E5F-4F4F-7AEF-CBB480B619B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FF005CC3-0EB6-6C47-48C5-0A781A3D82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3666941" cy="1699454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Messaging + Blue Infographic Content</a:t>
            </a:r>
          </a:p>
        </p:txBody>
      </p:sp>
    </p:spTree>
    <p:extLst>
      <p:ext uri="{BB962C8B-B14F-4D97-AF65-F5344CB8AC3E}">
        <p14:creationId xmlns:p14="http://schemas.microsoft.com/office/powerpoint/2010/main" val="13002495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49" hasCustomPrompt="1"/>
          </p:nvPr>
        </p:nvSpPr>
        <p:spPr>
          <a:xfrm>
            <a:off x="7257" y="883"/>
            <a:ext cx="9144000" cy="2682875"/>
          </a:xfrm>
          <a:solidFill>
            <a:srgbClr val="EFEFEF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Insert a large image here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B1A5A8C-3602-598A-D6BE-C1EEEA316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082799"/>
            <a:ext cx="4494809" cy="600959"/>
          </a:xfrm>
          <a:prstGeom prst="round1Rect">
            <a:avLst/>
          </a:prstGeom>
          <a:solidFill>
            <a:schemeClr val="tx2"/>
          </a:solidFill>
        </p:spPr>
        <p:txBody>
          <a:bodyPr lIns="274320" anchor="ctr"/>
          <a:lstStyle>
            <a:lvl1pPr algn="l">
              <a:defRPr sz="2500"/>
            </a:lvl1pPr>
          </a:lstStyle>
          <a:p>
            <a:r>
              <a:rPr lang="en-US" dirty="0"/>
              <a:t>Title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3CE4DC-F9C6-A43C-28C6-13011655AA6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56644" y="2945885"/>
            <a:ext cx="4038166" cy="178049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F18EFF9-E0AC-CC7E-2764-B29737D0FE57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788724" y="2945885"/>
            <a:ext cx="4038166" cy="1780494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B8DDF63-B0C1-97B0-7607-7753AB3540E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4889633"/>
            <a:ext cx="2311525" cy="15102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2765-270E-31B1-47C6-BD7C04EAF619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tx1"/>
                </a:solidFill>
              </a:rPr>
              <a:t>National Laboratory of the Rockies</a:t>
            </a:r>
            <a:r>
              <a:rPr lang="en-US" sz="750" baseline="0">
                <a:solidFill>
                  <a:schemeClr val="tx1"/>
                </a:solidFill>
              </a:rPr>
              <a:t>    </a:t>
            </a:r>
            <a:r>
              <a:rPr lang="en-US" sz="750">
                <a:solidFill>
                  <a:schemeClr val="tx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tx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762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 - Half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3205163"/>
            <a:ext cx="9144000" cy="19390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0" y="0"/>
            <a:ext cx="9144000" cy="3205163"/>
          </a:xfrm>
          <a:solidFill>
            <a:srgbClr val="EFEFEF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2CA1365-BAC8-78C8-B53B-C8BF3C8F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44" y="3542888"/>
            <a:ext cx="3331029" cy="1110342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F16797-31E5-332D-8BC8-939C4AAC29E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A63C524-155C-BBFE-66FC-89BCF27678A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4105535" y="3536242"/>
            <a:ext cx="4661648" cy="1304272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1706B6F-85EE-58E7-0392-254E9705436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270506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3204446"/>
            <a:ext cx="9144000" cy="19390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9144000" cy="3204446"/>
          </a:xfrm>
          <a:prstGeom prst="rect">
            <a:avLst/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7D88D45-FB85-42C7-BC0A-8E60CF8D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644" y="3542888"/>
            <a:ext cx="3328416" cy="1106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7D67B5D-5329-2E44-614F-CA5501D8249B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456644" y="582856"/>
            <a:ext cx="4663440" cy="2286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622128B2-D8A5-692C-2374-4D147DC3907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4104751" y="3521598"/>
            <a:ext cx="4581144" cy="129844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D9BA69-7500-759F-7486-0B527B74901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05BC830-7436-B3FC-AA6B-21AC73B889F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2959068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268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Half Blue, Half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3204446"/>
            <a:ext cx="9144000" cy="1939054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3272D3-1563-408A-9F95-5911769F6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25" y="3542887"/>
            <a:ext cx="3328416" cy="1106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893015-4F05-E217-3E5E-6EA469CBCA7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41945" y="583981"/>
            <a:ext cx="4663440" cy="2286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AC2ECD-612B-5E68-1983-6FB1054132F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4104751" y="3521862"/>
            <a:ext cx="4224528" cy="1298448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41D6D1-5CD2-9810-89E1-726B066A4BE4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075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">
          <p15:clr>
            <a:srgbClr val="FBAE40"/>
          </p15:clr>
        </p15:guide>
        <p15:guide id="2" orient="horz" pos="226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152614"/>
            <a:ext cx="9144000" cy="99088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F8E801-C21C-E943-9A0D-715C66D645FB}"/>
              </a:ext>
            </a:extLst>
          </p:cNvPr>
          <p:cNvSpPr/>
          <p:nvPr userDrawn="1"/>
        </p:nvSpPr>
        <p:spPr>
          <a:xfrm>
            <a:off x="0" y="0"/>
            <a:ext cx="9144000" cy="4152614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75F658F-F273-41B3-ACB3-9D303C6CD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286553"/>
            <a:ext cx="3308350" cy="744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E8785B-1579-4206-A28B-023A6726B47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105261" y="4298969"/>
            <a:ext cx="4641850" cy="448409"/>
          </a:xfrm>
        </p:spPr>
        <p:txBody>
          <a:bodyPr lIns="0" tIns="0" rIns="0">
            <a:normAutofit/>
          </a:bodyPr>
          <a:lstStyle>
            <a:lvl1pP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6398B08-C541-AC03-D7BA-89980829E4B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4958" y="582612"/>
            <a:ext cx="4663440" cy="22860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9693A5-106B-EBE2-0277-5304EB612F9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2554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3C7420-D1E3-2748-83F1-0C3F1C99A95C}"/>
              </a:ext>
            </a:extLst>
          </p:cNvPr>
          <p:cNvSpPr/>
          <p:nvPr userDrawn="1"/>
        </p:nvSpPr>
        <p:spPr>
          <a:xfrm>
            <a:off x="0" y="4152614"/>
            <a:ext cx="9144000" cy="99088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9A29C17-CD58-45DF-9097-FE42DFA0C9BA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474959" y="582613"/>
            <a:ext cx="4663440" cy="2286000"/>
          </a:xfrm>
        </p:spPr>
        <p:txBody>
          <a:bodyPr lIns="0" tIns="0" rIns="0" bIns="0"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C4210-7459-5AC3-8DF6-701132C8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286553"/>
            <a:ext cx="3308350" cy="744424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A7752E0B-A3B6-21AE-9429-49BAAB13337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4105261" y="4298969"/>
            <a:ext cx="4641850" cy="448409"/>
          </a:xfrm>
        </p:spPr>
        <p:txBody>
          <a:bodyPr lIns="0" tIns="0" rIns="0">
            <a:normAutofit/>
          </a:bodyPr>
          <a:lstStyle>
            <a:lvl1pP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9A733-2D0F-C5A4-0491-9681B311B6E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>
                <a:solidFill>
                  <a:schemeClr val="bg1"/>
                </a:solidFill>
              </a:rPr>
              <a:t>National Laboratory of the Rockies</a:t>
            </a:r>
            <a:r>
              <a:rPr lang="en-US" sz="750" baseline="0">
                <a:solidFill>
                  <a:schemeClr val="bg1"/>
                </a:solidFill>
              </a:rPr>
              <a:t>    </a:t>
            </a:r>
            <a:r>
              <a:rPr lang="en-US" sz="750">
                <a:solidFill>
                  <a:schemeClr val="bg1"/>
                </a:solidFill>
              </a:rPr>
              <a:t>|    </a:t>
            </a:r>
            <a:fld id="{BFD71CF8-5198-8441-A7C0-DC22FD64CBE4}" type="slidenum">
              <a:rPr lang="en-US" sz="750" smtClean="0">
                <a:solidFill>
                  <a:schemeClr val="bg1"/>
                </a:solidFill>
              </a:rPr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34318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226702" y="0"/>
            <a:ext cx="5917298" cy="514350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CE9686F-E66D-461E-AC4C-5FD554E27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737" y="515649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CFE6108-195D-3AED-B0F0-BDF908E498B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1737" y="2941154"/>
            <a:ext cx="2560320" cy="19487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67187C-EAD8-1E61-9962-5AE3823912D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0FBC13C3-7C60-BE34-38A2-C36952BFF67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466544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 dirty="0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107524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499347" y="0"/>
            <a:ext cx="7644653" cy="5143500"/>
          </a:xfrm>
          <a:solidFill>
            <a:schemeClr val="bg2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F0677-99AF-14F1-F6C6-B4B4C767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459" y="477398"/>
            <a:ext cx="1098047" cy="1828800"/>
          </a:xfrm>
          <a:prstGeom prst="rect">
            <a:avLst/>
          </a:prstGeom>
          <a:noFill/>
        </p:spPr>
        <p:txBody>
          <a:bodyPr lIns="0" tIns="0" rIns="0" bIns="0" anchor="t" anchorCtr="0">
            <a:noAutofit/>
          </a:bodyPr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58745-A1F2-18C6-DF3B-A0C108BEEC6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ACB8336F-32E4-611C-10C3-4649525F2131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41158" y="4889633"/>
            <a:ext cx="2104119" cy="15863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 dirty="0"/>
              <a:t>Photo/Image Credit</a:t>
            </a:r>
          </a:p>
        </p:txBody>
      </p:sp>
    </p:spTree>
    <p:extLst>
      <p:ext uri="{BB962C8B-B14F-4D97-AF65-F5344CB8AC3E}">
        <p14:creationId xmlns:p14="http://schemas.microsoft.com/office/powerpoint/2010/main" val="16663083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 gold tab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49807" y="0"/>
            <a:ext cx="8394193" cy="5143500"/>
          </a:xfr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AE894BAA-0327-4892-AB75-34DCB16A20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2660" y="4886727"/>
            <a:ext cx="2779713" cy="1148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0C0C0"/>
                </a:solidFill>
              </a:defRPr>
            </a:lvl1pPr>
            <a:lvl2pPr marL="233362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2pPr>
            <a:lvl3pPr marL="458787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3pPr>
            <a:lvl4pPr marL="688975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208986-FEE2-BB0A-38A4-BDAEF1C64A2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1331267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3226702" y="0"/>
            <a:ext cx="5917298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BB39BF4-7072-4553-86C8-12D7D9B7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EFFE661-D7A3-4C37-B357-43318784250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3593945" y="508393"/>
            <a:ext cx="5056632" cy="2187342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AF077-54D2-9477-158C-4436C07F9E04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2232" y="2939770"/>
            <a:ext cx="2560320" cy="194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AC6BB4-4C1D-E09F-4285-4BB1E317D17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4019689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1499614" y="0"/>
            <a:ext cx="7644385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B797EB37-03F4-449B-B968-0A9F893D5E0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142061" y="478193"/>
            <a:ext cx="4600383" cy="2944368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9E2B33-0A98-2370-ADEA-B2EEAB6E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76" y="477398"/>
            <a:ext cx="1093575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56DAAE-94D5-B061-538D-10611DF8C0C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99431812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gold tab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808AC53-C403-F042-A661-2863C5AB400C}"/>
              </a:ext>
            </a:extLst>
          </p:cNvPr>
          <p:cNvSpPr/>
          <p:nvPr userDrawn="1"/>
        </p:nvSpPr>
        <p:spPr>
          <a:xfrm>
            <a:off x="749807" y="0"/>
            <a:ext cx="8394193" cy="514350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FB4065-B034-894F-B2AD-10DA51A4FF51}"/>
              </a:ext>
            </a:extLst>
          </p:cNvPr>
          <p:cNvSpPr/>
          <p:nvPr userDrawn="1"/>
        </p:nvSpPr>
        <p:spPr>
          <a:xfrm>
            <a:off x="0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BD73797-8DC2-4888-96F8-44B5CE03FB5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372203" y="500593"/>
            <a:ext cx="4641850" cy="1096962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AAC423-CB9B-EEBB-7601-9A8B3252AE95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1981257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3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4F110FF-8AA0-4EAA-B648-1E56466C209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3593947" y="508393"/>
            <a:ext cx="5057683" cy="2182317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01DA590-E34F-E95F-EA8F-25D429152E53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2232" y="2939770"/>
            <a:ext cx="2560320" cy="194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15286F-2A29-ACB1-B45B-5FA5D51D6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97A9C-A105-75A0-3CB4-2B747B7ED359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0719999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1/4 blue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8E2A80C-EB6E-8C4C-AB43-79FC52672C2F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997782B-AD07-41D8-8B1A-C80B79091418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137037" y="501506"/>
            <a:ext cx="4605407" cy="2945077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DE9B94A-10DF-F259-6211-361F39055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80" y="477405"/>
            <a:ext cx="1093572" cy="219888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107A43-F47C-2F30-47BB-AF2A7123E668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5661488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gold tab, tex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F46C4D-EA55-834D-A1ED-486FAB3B53C7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90E8073-CA3E-42B8-B107-F7F3B0E99B6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372203" y="500593"/>
            <a:ext cx="5013523" cy="3357974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EBE631-E7F3-1A30-303E-56D522E750C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127465312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226702" y="0"/>
            <a:ext cx="5917298" cy="2571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2B3A08-FCC1-87D5-1806-980B38E9CB45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3230423" y="2572134"/>
            <a:ext cx="5913577" cy="2571366"/>
          </a:xfrm>
          <a:solidFill>
            <a:schemeClr val="bg2"/>
          </a:solidFill>
        </p:spPr>
        <p:txBody>
          <a:bodyPr lIns="365760" tIns="365760" rIns="365760" bIns="36576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1E2549-C9BE-44EC-AF2A-C2344561DBFA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372233" y="2933144"/>
            <a:ext cx="2560320" cy="194309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736489C-C527-2182-AA78-6C8EC3B4E358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3577197" y="2355711"/>
            <a:ext cx="2624820" cy="161402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2BC63-8716-7F87-EDEE-D627E7392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F67997-FED8-3B31-3271-4D017476C118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0279066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B232DB-1D11-DE05-2972-F705A485DA84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1497012" y="2574036"/>
            <a:ext cx="7646987" cy="2569464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499615" y="0"/>
            <a:ext cx="7644385" cy="2571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BA21AF-1C86-484E-8C81-8214908BC04B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CC5C7B5-DFEC-E352-19F8-7DDB1DEC1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79" y="480012"/>
            <a:ext cx="1093572" cy="208476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96FE1DD-C9BA-0FD5-CAD0-1C4DA5AF9A7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789374" y="2315482"/>
            <a:ext cx="2404939" cy="161437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89777C-D043-D70D-23A4-FC873B15628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7834166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with t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94E0F-43B5-0F46-B097-5F1C5C7C3C69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749807" y="0"/>
            <a:ext cx="8394193" cy="257175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AE2D25-9C7A-B2BA-D5DE-F13F7B8A3FF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3578" y="2572379"/>
            <a:ext cx="8400422" cy="257112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9804E5-74BF-BD47-85E5-EA49688872F8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BBF26-D9F9-B112-3BA8-59D2A642D54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140574" y="2323167"/>
            <a:ext cx="1936049" cy="155122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282CB7-1201-FE39-7E9A-084141E0CE2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68419081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4C8B31-BC01-2C22-3ABA-BE59023BC63B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227832" y="2566988"/>
            <a:ext cx="5916168" cy="257651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832604-F597-CE4C-9045-0EDB4883F306}"/>
              </a:ext>
            </a:extLst>
          </p:cNvPr>
          <p:cNvSpPr/>
          <p:nvPr userDrawn="1"/>
        </p:nvSpPr>
        <p:spPr>
          <a:xfrm>
            <a:off x="0" y="0"/>
            <a:ext cx="3226702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7A34F1A-F0DB-40F2-B360-EACF6348CA2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593948" y="560883"/>
            <a:ext cx="4886861" cy="1624634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1254CF-076C-8B1F-5ECD-2B998D963E3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372234" y="2938517"/>
            <a:ext cx="2560320" cy="19385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32B55-1426-0C63-1A57-2709D8CD8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234" y="508393"/>
            <a:ext cx="2560320" cy="1828800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25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62CFE1-1EC0-DA96-4144-8C0FB4069729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1642068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3 areas,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DA860-D395-9584-1BBA-D20571D1D2F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1497204" y="2566988"/>
            <a:ext cx="7646796" cy="2576512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AAD8C3-A811-7F49-ABE6-460F673A0377}"/>
              </a:ext>
            </a:extLst>
          </p:cNvPr>
          <p:cNvSpPr/>
          <p:nvPr userDrawn="1"/>
        </p:nvSpPr>
        <p:spPr>
          <a:xfrm>
            <a:off x="-1" y="0"/>
            <a:ext cx="1499616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862198" y="513990"/>
            <a:ext cx="4641850" cy="1096962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34C92E-68E4-262B-F413-5E1B122DD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79" y="480011"/>
            <a:ext cx="1099751" cy="2107072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algn="l">
              <a:lnSpc>
                <a:spcPct val="100000"/>
              </a:lnSpc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4662C0-2AAB-725F-9E17-B54CCB5BA47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767035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Split -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B6990-0ED3-8B6A-CDDE-94E3134E15AB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743578" y="2571751"/>
            <a:ext cx="8400422" cy="2571750"/>
          </a:xfrm>
          <a:solidFill>
            <a:schemeClr val="bg2"/>
          </a:solidFill>
        </p:spPr>
        <p:txBody>
          <a:bodyPr lIns="365760" tIns="365760" rIns="365760" bIns="6400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DA16ECC7-95B6-4155-96E7-F0FFF0626F7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1100569" y="515665"/>
            <a:ext cx="4501387" cy="1800480"/>
          </a:xfrm>
        </p:spPr>
        <p:txBody>
          <a:bodyPr lIns="0" tIns="0" rIns="0" bIns="0">
            <a:norm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7FD9B-4A46-4188-9F66-F09E1C0537B3}"/>
              </a:ext>
            </a:extLst>
          </p:cNvPr>
          <p:cNvSpPr/>
          <p:nvPr userDrawn="1"/>
        </p:nvSpPr>
        <p:spPr>
          <a:xfrm>
            <a:off x="-1" y="0"/>
            <a:ext cx="749808" cy="51435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62EB90-119F-7B7C-5472-16CE10A89780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501067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- Multi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1" hasCustomPrompt="1"/>
          </p:nvPr>
        </p:nvSpPr>
        <p:spPr>
          <a:xfrm>
            <a:off x="457200" y="1391881"/>
            <a:ext cx="4123076" cy="2216292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22" hasCustomPrompt="1"/>
          </p:nvPr>
        </p:nvSpPr>
        <p:spPr>
          <a:xfrm>
            <a:off x="4825308" y="182880"/>
            <a:ext cx="3871998" cy="1835390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23" hasCustomPrompt="1"/>
          </p:nvPr>
        </p:nvSpPr>
        <p:spPr>
          <a:xfrm>
            <a:off x="4825308" y="2479946"/>
            <a:ext cx="3871998" cy="1952011"/>
          </a:xfrm>
          <a:prstGeom prst="rect">
            <a:avLst/>
          </a:prstGeom>
          <a:solidFill>
            <a:schemeClr val="bg2"/>
          </a:solidFill>
        </p:spPr>
        <p:txBody>
          <a:bodyPr vert="horz"/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1pPr>
          </a:lstStyle>
          <a:p>
            <a:r>
              <a:rPr lang="en-US"/>
              <a:t>Insert Photo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70C75BF-C07C-47CD-BC98-DC5F9CA1E633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457200" y="4027648"/>
            <a:ext cx="4122738" cy="725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DF822E2-A016-4350-A90C-517C3974F4D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4826000" y="2086495"/>
            <a:ext cx="3871913" cy="21538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344F37C-48C1-4A08-9DB4-76F621838FAD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826000" y="4497388"/>
            <a:ext cx="3871913" cy="25558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136E55-7DE3-D2CF-8B1B-394D8F969FE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BB907DC-C079-0123-DD1A-323F021F5BF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56644" y="3659280"/>
            <a:ext cx="4122738" cy="303120"/>
          </a:xfrm>
        </p:spPr>
        <p:txBody>
          <a:bodyPr>
            <a:noAutofit/>
          </a:bodyPr>
          <a:lstStyle>
            <a:lvl1pPr marL="0" indent="0">
              <a:buNone/>
              <a:defRPr sz="600" i="1">
                <a:solidFill>
                  <a:srgbClr val="CBCBCB"/>
                </a:solidFill>
              </a:defRPr>
            </a:lvl1pPr>
          </a:lstStyle>
          <a:p>
            <a:pPr lvl="0"/>
            <a:r>
              <a:rPr lang="en-US"/>
              <a:t>Photo/Image Credit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56C6DF-5712-3B83-D9C6-A3F190933DF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0CB0A2CE-6867-0AF8-FC16-F279FFB8F7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4579382" cy="1139377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Photo Slide</a:t>
            </a:r>
          </a:p>
        </p:txBody>
      </p:sp>
    </p:spTree>
    <p:extLst>
      <p:ext uri="{BB962C8B-B14F-4D97-AF65-F5344CB8AC3E}">
        <p14:creationId xmlns:p14="http://schemas.microsoft.com/office/powerpoint/2010/main" val="1828242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766" y="159281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80720" y="159281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29674" y="159281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78628" y="159281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27582" y="159281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76536" y="159281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25490" y="159281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74444" y="159281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23398" y="159280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72352" y="159280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1475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0429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429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69383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69383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8337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18337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67291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67291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16245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16245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5199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5199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4153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14153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63107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163107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12061" y="2318970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2061" y="263220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1766" y="320654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280720" y="320654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129674" y="320654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978628" y="320654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3827582" y="320654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676536" y="320654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5525490" y="320654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374444" y="320654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7223398" y="320653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072352" y="320653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1475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1475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20429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0429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69383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69383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918337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918337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767291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767291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616245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616245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465199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465199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14153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314153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163107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163107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012061" y="3932700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012061" y="4245930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12695A-47D5-A736-DD62-607969B0DDB1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4E2DC0-ABDF-6183-ACD0-8E1C8E1767A7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20">
            <a:extLst>
              <a:ext uri="{FF2B5EF4-FFF2-40B4-BE49-F238E27FC236}">
                <a16:creationId xmlns:a16="http://schemas.microsoft.com/office/drawing/2014/main" id="{640C9B6F-26ED-9D47-F62D-E3754B101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6894287" cy="1139380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Organizational / People Slide</a:t>
            </a:r>
          </a:p>
        </p:txBody>
      </p:sp>
    </p:spTree>
    <p:extLst>
      <p:ext uri="{BB962C8B-B14F-4D97-AF65-F5344CB8AC3E}">
        <p14:creationId xmlns:p14="http://schemas.microsoft.com/office/powerpoint/2010/main" val="2276095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zation/Peop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29BD-0885-4573-99C8-4157FC9C40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766" y="125256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06213BBD-3855-4B0B-8A84-51E9FC1372D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80720" y="125256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7D606CB-34C0-401F-875B-BEEEDC0345F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29674" y="125256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61B2D16-15AF-42DD-BA50-78E34CF626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978628" y="125256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22A3C1B0-1F07-463E-92DE-7FE5C13FEC5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27582" y="125256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7847C206-E8D5-4795-A08D-E50DEA08FF0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76536" y="125256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6C1C3C0A-A4E2-4436-8A46-289CEC4F77E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25490" y="125256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BDF8D528-E9EA-4E35-8491-F6A99789128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74444" y="125255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21D1C5A0-CC5F-476B-B4BA-09FD03598BB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223398" y="125255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CA0A3023-3E60-4D2C-A931-CC328FE9FE1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072352" y="125255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224671-09ED-4FA8-983D-EAD721B0D1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1475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FF7F23A-1789-43BF-B20F-65A7ECB89F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475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9C0580B-145C-42FD-AA24-171E95A5D6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20429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A792742-716F-429B-A7B2-985D160C97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429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D25B8AE-4C6F-454E-88CF-0FBA4D1E3C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69383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272C8DB5-CC3D-4211-BD80-67AF8CD8F8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069383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92D8796-494D-46E1-BB4E-702BA3AF11B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18337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B459A2-2E74-4103-9617-5F6B5F60CA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918337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0FEAE40C-B15B-406F-B301-2122D5E97B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67291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8734984E-F8D3-4C71-AE4B-7FCB18E02F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67291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79171E4-ECF2-4F6C-AF1D-338215896F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616245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51809F2-386E-41F8-9724-BC4D70B0152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616245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95055070-C0E0-4AED-A9A4-78BE4ECD66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65199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6C5032EB-34C8-4285-BB30-E7E2D0BB721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65199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FDC5A0C0-AA66-40BE-B5B4-DBA6456BB25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314153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82125138-D56F-49B0-9B8B-7D74BAD1FCA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14153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7AB0C0AB-3AF1-4A3A-B3D2-CF2E51B568C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163107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77718C7-54C4-4992-BA81-1584EEBDF79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163107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3D74D20D-C671-4447-B31D-667B7696D6D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012061" y="1978719"/>
            <a:ext cx="789039" cy="273727"/>
          </a:xfrm>
        </p:spPr>
        <p:txBody>
          <a:bodyPr lIns="0" t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C6140A0-C70B-40E0-B1BB-0E20C267AFF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012061" y="229194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67" name="Picture Placeholder 5">
            <a:extLst>
              <a:ext uri="{FF2B5EF4-FFF2-40B4-BE49-F238E27FC236}">
                <a16:creationId xmlns:a16="http://schemas.microsoft.com/office/drawing/2014/main" id="{AFF61686-D651-41DC-80B3-15BC8C883188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31766" y="2866296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8" name="Picture Placeholder 5">
            <a:extLst>
              <a:ext uri="{FF2B5EF4-FFF2-40B4-BE49-F238E27FC236}">
                <a16:creationId xmlns:a16="http://schemas.microsoft.com/office/drawing/2014/main" id="{45A17B8C-890F-4D15-B663-D63CB5DA7A2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280720" y="2866295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9" name="Picture Placeholder 5">
            <a:extLst>
              <a:ext uri="{FF2B5EF4-FFF2-40B4-BE49-F238E27FC236}">
                <a16:creationId xmlns:a16="http://schemas.microsoft.com/office/drawing/2014/main" id="{B3B0BC5C-C645-4CC6-BDB7-28346D701A5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129674" y="2866294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0" name="Picture Placeholder 5">
            <a:extLst>
              <a:ext uri="{FF2B5EF4-FFF2-40B4-BE49-F238E27FC236}">
                <a16:creationId xmlns:a16="http://schemas.microsoft.com/office/drawing/2014/main" id="{80487772-0E40-4BFF-B691-18C353E4597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978628" y="2866293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1" name="Picture Placeholder 5">
            <a:extLst>
              <a:ext uri="{FF2B5EF4-FFF2-40B4-BE49-F238E27FC236}">
                <a16:creationId xmlns:a16="http://schemas.microsoft.com/office/drawing/2014/main" id="{6F16B967-D687-4D64-86A3-7A63BEED5AB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3827582" y="2866292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2" name="Picture Placeholder 5">
            <a:extLst>
              <a:ext uri="{FF2B5EF4-FFF2-40B4-BE49-F238E27FC236}">
                <a16:creationId xmlns:a16="http://schemas.microsoft.com/office/drawing/2014/main" id="{D736DCBA-5A05-47F6-8FE4-54771D84718E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676536" y="2866291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3" name="Picture Placeholder 5">
            <a:extLst>
              <a:ext uri="{FF2B5EF4-FFF2-40B4-BE49-F238E27FC236}">
                <a16:creationId xmlns:a16="http://schemas.microsoft.com/office/drawing/2014/main" id="{A0150D37-1D94-4043-B18E-9F85DAB9087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5525490" y="2866290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4" name="Picture Placeholder 5">
            <a:extLst>
              <a:ext uri="{FF2B5EF4-FFF2-40B4-BE49-F238E27FC236}">
                <a16:creationId xmlns:a16="http://schemas.microsoft.com/office/drawing/2014/main" id="{8BA10313-44BD-4478-B928-0C2D33EF65E6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374444" y="2866289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5" name="Picture Placeholder 5">
            <a:extLst>
              <a:ext uri="{FF2B5EF4-FFF2-40B4-BE49-F238E27FC236}">
                <a16:creationId xmlns:a16="http://schemas.microsoft.com/office/drawing/2014/main" id="{734ABE7A-035E-4AB1-96EC-5616F3F3A57C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7223398" y="2866288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6" name="Picture Placeholder 5">
            <a:extLst>
              <a:ext uri="{FF2B5EF4-FFF2-40B4-BE49-F238E27FC236}">
                <a16:creationId xmlns:a16="http://schemas.microsoft.com/office/drawing/2014/main" id="{61ECE862-920A-4ED4-A64D-25D8554CFB12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8072352" y="2866287"/>
            <a:ext cx="668456" cy="668456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 sz="1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AD73573-9F8F-43AE-8A47-27A4EA66244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71475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FD1D8420-9732-43E4-A647-55365C8BB9D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71475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DB4A538-90E4-45C0-88A1-BF42454ADA8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220429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871C4BA4-F38B-4357-B376-0D9AE045C18A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0429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1" name="Text Placeholder 4">
            <a:extLst>
              <a:ext uri="{FF2B5EF4-FFF2-40B4-BE49-F238E27FC236}">
                <a16:creationId xmlns:a16="http://schemas.microsoft.com/office/drawing/2014/main" id="{1BB91304-BA43-4644-936D-E483439E9056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69383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2" name="Text Placeholder 4">
            <a:extLst>
              <a:ext uri="{FF2B5EF4-FFF2-40B4-BE49-F238E27FC236}">
                <a16:creationId xmlns:a16="http://schemas.microsoft.com/office/drawing/2014/main" id="{4D2B37AE-57BE-4850-A568-3B81DC5AE4DF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69383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3" name="Text Placeholder 4">
            <a:extLst>
              <a:ext uri="{FF2B5EF4-FFF2-40B4-BE49-F238E27FC236}">
                <a16:creationId xmlns:a16="http://schemas.microsoft.com/office/drawing/2014/main" id="{4C580F9B-9071-44D6-85C2-8FB9C1D1325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918337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672476A3-2700-4105-8E7A-4E5712FD0CD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2918337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5" name="Text Placeholder 4">
            <a:extLst>
              <a:ext uri="{FF2B5EF4-FFF2-40B4-BE49-F238E27FC236}">
                <a16:creationId xmlns:a16="http://schemas.microsoft.com/office/drawing/2014/main" id="{A4BE42C6-FFC9-4DDE-9412-F66D55630CA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767291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95A868D2-8BE5-483D-997D-3D1448609BCB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767291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0F0D0101-1FF2-40B3-B55B-03C7AFE53436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4616245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88" name="Text Placeholder 4">
            <a:extLst>
              <a:ext uri="{FF2B5EF4-FFF2-40B4-BE49-F238E27FC236}">
                <a16:creationId xmlns:a16="http://schemas.microsoft.com/office/drawing/2014/main" id="{2838039E-47F9-4CDB-ADD3-D89B88AE26C3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616245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89" name="Text Placeholder 4">
            <a:extLst>
              <a:ext uri="{FF2B5EF4-FFF2-40B4-BE49-F238E27FC236}">
                <a16:creationId xmlns:a16="http://schemas.microsoft.com/office/drawing/2014/main" id="{8C6019B0-EF3F-4235-BB75-0321019C9977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5465199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0" name="Text Placeholder 4">
            <a:extLst>
              <a:ext uri="{FF2B5EF4-FFF2-40B4-BE49-F238E27FC236}">
                <a16:creationId xmlns:a16="http://schemas.microsoft.com/office/drawing/2014/main" id="{8509B39E-02B1-4A98-9349-46576A123CE3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5465199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1" name="Text Placeholder 4">
            <a:extLst>
              <a:ext uri="{FF2B5EF4-FFF2-40B4-BE49-F238E27FC236}">
                <a16:creationId xmlns:a16="http://schemas.microsoft.com/office/drawing/2014/main" id="{70091A78-D184-454C-8DA3-A6DC30A485B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14153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2" name="Text Placeholder 4">
            <a:extLst>
              <a:ext uri="{FF2B5EF4-FFF2-40B4-BE49-F238E27FC236}">
                <a16:creationId xmlns:a16="http://schemas.microsoft.com/office/drawing/2014/main" id="{E5C4BDA3-0DC2-4FF1-8335-37DE8780B636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6314153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3" name="Text Placeholder 4">
            <a:extLst>
              <a:ext uri="{FF2B5EF4-FFF2-40B4-BE49-F238E27FC236}">
                <a16:creationId xmlns:a16="http://schemas.microsoft.com/office/drawing/2014/main" id="{667C31F9-9400-4AD5-B618-ACEB153E15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7163107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4" name="Text Placeholder 4">
            <a:extLst>
              <a:ext uri="{FF2B5EF4-FFF2-40B4-BE49-F238E27FC236}">
                <a16:creationId xmlns:a16="http://schemas.microsoft.com/office/drawing/2014/main" id="{8F08286F-AD3B-40EB-83EB-4D88A2F77C1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7163107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6BD1A057-FD7A-4636-8A1A-BCFBBEF481C8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8012061" y="3592449"/>
            <a:ext cx="789039" cy="273727"/>
          </a:xfrm>
        </p:spPr>
        <p:txBody>
          <a:bodyPr lIns="0" tIns="0" rIns="0" bIns="0" anchor="b" anchorCtr="0"/>
          <a:lstStyle>
            <a:lvl1pPr marL="0" indent="0" algn="ctr">
              <a:buNone/>
              <a:defRPr sz="1000" b="1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96" name="Text Placeholder 4">
            <a:extLst>
              <a:ext uri="{FF2B5EF4-FFF2-40B4-BE49-F238E27FC236}">
                <a16:creationId xmlns:a16="http://schemas.microsoft.com/office/drawing/2014/main" id="{DAA59115-8F47-4FDF-9E38-E7F4C0107CE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012061" y="3905679"/>
            <a:ext cx="789039" cy="273727"/>
          </a:xfrm>
        </p:spPr>
        <p:txBody>
          <a:bodyPr anchor="t" anchorCtr="0"/>
          <a:lstStyle>
            <a:lvl1pPr marL="0" indent="0" algn="ctr">
              <a:buNone/>
              <a:defRPr sz="800" b="0"/>
            </a:lvl1pPr>
          </a:lstStyle>
          <a:p>
            <a:pPr lvl="0"/>
            <a:r>
              <a:rPr lang="en-US"/>
              <a:t>Title/Center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30EABE-4B1E-F662-25A4-93A7AF42E8EC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25178C-B86E-AEDB-DA1F-62912F00E49E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20">
            <a:extLst>
              <a:ext uri="{FF2B5EF4-FFF2-40B4-BE49-F238E27FC236}">
                <a16:creationId xmlns:a16="http://schemas.microsoft.com/office/drawing/2014/main" id="{21FFD5AF-9347-E023-8F48-F2A5F2D557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8676775" cy="907148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Organizational / People Slide</a:t>
            </a:r>
          </a:p>
        </p:txBody>
      </p:sp>
    </p:spTree>
    <p:extLst>
      <p:ext uri="{BB962C8B-B14F-4D97-AF65-F5344CB8AC3E}">
        <p14:creationId xmlns:p14="http://schemas.microsoft.com/office/powerpoint/2010/main" val="41176143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9A0BB-5010-CC3A-A2F6-6C98DB096358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59588A-DE2B-3E53-9C72-A550639B7135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E78E70A-877A-E9FE-6156-2C023D4A7F35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26949D5-F5D2-858E-1D64-781CE3AB9942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463ABBE-7CD4-340F-088E-04A3FD53CFC4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1C48CC5-C569-7F6F-6D19-33DA6D61A0D1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35B85FC-6AB5-9B59-C2E9-03D042EC1DFD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E34E5F-25EA-5156-F1B9-74A219E5715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5110DB-742A-FE41-0D19-5B9A89E4933C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7C692E60-92AB-4CC5-88C2-0ADD690532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8469201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110C422-9C35-54AC-12CF-1DA3445659A2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19C5A3-3423-017A-0EDC-C10CB0EC1FE3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02E0A6E-3314-47CC-03CD-71D5BCCA0340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F9D20E-F8BC-1B72-E65F-C42D2AD05DBE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D90CD1-86DE-CC65-0276-BE3085358EB6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07E6927-1F72-2CEE-7D40-621955D6BD60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2F63B35-C8B1-1CC3-6FC1-DB398FC5EC96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A1D4BA-0286-6FAF-E650-59ADF3A4314A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04BB64-7FB6-6BEB-8963-A8717DFEE057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20">
            <a:extLst>
              <a:ext uri="{FF2B5EF4-FFF2-40B4-BE49-F238E27FC236}">
                <a16:creationId xmlns:a16="http://schemas.microsoft.com/office/drawing/2014/main" id="{6E8C1B26-8B16-9397-C79B-6038D2A3B6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22792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C48DE2-15D7-4EB5-9DDC-79E9C1C8621E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426863-C2D8-B163-B513-836F0A8D07C2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AC07864-52A8-BF97-875D-253BFBC15068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1B9F020-5CD4-DCB8-EAD4-670C7A5D2111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3E5A6DC-6D0B-8012-5AD3-4F91BFD26B2A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BB30644-D506-2E53-B8D9-3EDE4A2184C4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971F6D6-A269-A4F6-5DF7-E403AF088741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89E0D2-A507-0635-F66D-42C430324CF2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1EE1B7-C33C-2EAC-72AA-5B015F51CE22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2FB07D22-2834-B625-FAA3-A0FE5FAA20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93861335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E7AA6AC-A171-0A6D-DA6E-5E928A49DB6B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EFCE960-A531-6ABD-8471-5FA8A51973E0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6B65AD5-5805-6332-F1B1-EFBAB598DFA4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70C4B3-64C5-4C80-FC3E-CA07C14F0DDA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2D929D3-D929-EBC8-5BD5-3EF200BC9EEC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03E6B1-51E6-AD06-CBBA-4D7A181776A6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F454D7-4860-0C1C-461D-E24F83DC5463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904F32-8AC9-0AF6-715F-D858E7B2CCD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9DA867-D362-D4CF-1642-427FF10B199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67376418-89A5-7BC8-FCDF-B38385F024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54788130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5EF62C-14DC-8569-F857-F9005E8A926A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F2DD467-3FF1-2050-0E47-CAD6E3BAD104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9988F8-3436-11D7-3743-92076BD57876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6F72BDF-7CB9-9313-7B75-68EBEAD3F60C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6A36163-D2BB-4BA8-691E-9BDA1E5E5B67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70FD610-4974-4ECD-592A-6F48E8EB6F4F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B7010F4-ECAE-1CC0-5BC2-34573DAED6BC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95AAF-7C37-6119-090F-F4B0F06AD756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F0E65F-87A1-5A3E-6BE0-76A1512C9B0F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378D40AB-A931-1416-DC62-4D8326738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20571523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0C85DB-94A4-A073-1A5A-F3309F5CCCCA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25383C-A1CE-009D-28E1-33634664988A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371A96-100F-BA13-7CED-7A6175562913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EFC827-714A-5077-2AF7-0D466F6625C7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2D6A54-EE78-AB45-0F22-41C054BF9753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117F822-2BDA-965F-B05D-932E3A4DA84B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19F6BDA-47D4-F260-8B1E-9E219C2739DF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56E1DA-1ADD-6D5F-EF91-EAECACBF89CD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357900-4533-56B4-442C-C09C8C9F16E4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6595EB55-53F9-8C93-C36A-BA53CB4CA2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0072952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F921AB4-F0E3-41B5-6F31-D54FC8D7B080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66ECD41-D979-A6E2-73B2-12BE2C54F7B7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0D6AAB6-BC07-5F46-A4F6-0EFF50D143B0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054AA5-BB34-AD00-86F2-2AE9ABF1BE18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1DD908-3164-599B-D370-8C2D7BFAE1C8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D007F02-8405-9BA5-60ED-2765FEAF4796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0AA075-0D3C-FCC0-AC84-EE19DFFE3A7E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D27493-D469-0A4A-C4BB-3AEA60759DBE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CCCEE6-1612-93C6-32D4-408A43EAC462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BEA30514-F4B7-F118-D2A6-12448DFCCC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44062653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OC Slide - Ma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83661" y="138719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37" name="Straight Connector 36"/>
          <p:cNvCxnSpPr/>
          <p:nvPr userDrawn="1"/>
        </p:nvCxnSpPr>
        <p:spPr>
          <a:xfrm>
            <a:off x="983661" y="177677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983661" y="18665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983661" y="22561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83661" y="235108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44" name="Straight Connector 43"/>
          <p:cNvCxnSpPr/>
          <p:nvPr userDrawn="1"/>
        </p:nvCxnSpPr>
        <p:spPr>
          <a:xfrm>
            <a:off x="983661" y="274066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983661" y="2836648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1" name="Straight Connector 50"/>
          <p:cNvCxnSpPr/>
          <p:nvPr userDrawn="1"/>
        </p:nvCxnSpPr>
        <p:spPr>
          <a:xfrm>
            <a:off x="983661" y="3226220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83661" y="3328432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4" name="Straight Connector 53"/>
          <p:cNvCxnSpPr/>
          <p:nvPr userDrawn="1"/>
        </p:nvCxnSpPr>
        <p:spPr>
          <a:xfrm>
            <a:off x="983661" y="3718004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 Placeholder 6"/>
          <p:cNvSpPr>
            <a:spLocks noGrp="1"/>
          </p:cNvSpPr>
          <p:nvPr>
            <p:ph type="body" sz="quarter" idx="27" hasCustomPrompt="1"/>
          </p:nvPr>
        </p:nvSpPr>
        <p:spPr>
          <a:xfrm>
            <a:off x="983661" y="3813991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57" name="Straight Connector 56"/>
          <p:cNvCxnSpPr/>
          <p:nvPr userDrawn="1"/>
        </p:nvCxnSpPr>
        <p:spPr>
          <a:xfrm>
            <a:off x="983661" y="4203563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6"/>
          <p:cNvSpPr>
            <a:spLocks noGrp="1"/>
          </p:cNvSpPr>
          <p:nvPr>
            <p:ph type="body" sz="quarter" idx="29" hasCustomPrompt="1"/>
          </p:nvPr>
        </p:nvSpPr>
        <p:spPr>
          <a:xfrm>
            <a:off x="983661" y="4299549"/>
            <a:ext cx="5164903" cy="389572"/>
          </a:xfrm>
          <a:prstGeom prst="rect">
            <a:avLst/>
          </a:prstGeom>
        </p:spPr>
        <p:txBody>
          <a:bodyPr vert="horz" wrap="none" lIns="0" tIns="0" rIns="0" bIns="0" anchor="ctr" anchorCtr="0"/>
          <a:lstStyle>
            <a:lvl1pPr marL="0" indent="0">
              <a:buNone/>
              <a:defRPr sz="2000" b="1">
                <a:solidFill>
                  <a:srgbClr val="333333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en-US"/>
              <a:t>Section Name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983661" y="4689121"/>
            <a:ext cx="5164903" cy="7026"/>
          </a:xfrm>
          <a:prstGeom prst="line">
            <a:avLst/>
          </a:prstGeom>
          <a:ln w="12700" cmpd="sng">
            <a:solidFill>
              <a:schemeClr val="tx1">
                <a:lumMod val="25000"/>
                <a:lumOff val="7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72A499A-B4C7-3457-2E48-5211DE4B1CDB}"/>
              </a:ext>
            </a:extLst>
          </p:cNvPr>
          <p:cNvSpPr/>
          <p:nvPr userDrawn="1"/>
        </p:nvSpPr>
        <p:spPr>
          <a:xfrm>
            <a:off x="457201" y="1387197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E517360-C038-9603-B0A8-471A390AF1CD}"/>
              </a:ext>
            </a:extLst>
          </p:cNvPr>
          <p:cNvSpPr/>
          <p:nvPr userDrawn="1"/>
        </p:nvSpPr>
        <p:spPr>
          <a:xfrm>
            <a:off x="457201" y="186133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4FB253-2840-4E46-205B-8A177D4DA0C0}"/>
              </a:ext>
            </a:extLst>
          </p:cNvPr>
          <p:cNvSpPr/>
          <p:nvPr userDrawn="1"/>
        </p:nvSpPr>
        <p:spPr>
          <a:xfrm>
            <a:off x="457201" y="234675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38A649-14DE-D169-8665-82B386E7B637}"/>
              </a:ext>
            </a:extLst>
          </p:cNvPr>
          <p:cNvSpPr/>
          <p:nvPr userDrawn="1"/>
        </p:nvSpPr>
        <p:spPr>
          <a:xfrm>
            <a:off x="457201" y="2832174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3D5FC04-DE87-E00E-C8CF-B24AB5F07302}"/>
              </a:ext>
            </a:extLst>
          </p:cNvPr>
          <p:cNvSpPr/>
          <p:nvPr userDrawn="1"/>
        </p:nvSpPr>
        <p:spPr>
          <a:xfrm>
            <a:off x="457201" y="3323240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294A651-51DD-4D7C-9993-65F5A9278864}"/>
              </a:ext>
            </a:extLst>
          </p:cNvPr>
          <p:cNvSpPr/>
          <p:nvPr userDrawn="1"/>
        </p:nvSpPr>
        <p:spPr>
          <a:xfrm>
            <a:off x="457201" y="3808662"/>
            <a:ext cx="431574" cy="3930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9BE7FE-124A-9B7A-D511-3C82AD80942F}"/>
              </a:ext>
            </a:extLst>
          </p:cNvPr>
          <p:cNvSpPr/>
          <p:nvPr userDrawn="1"/>
        </p:nvSpPr>
        <p:spPr>
          <a:xfrm>
            <a:off x="457201" y="4294084"/>
            <a:ext cx="431574" cy="39308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i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B64683-6370-7CF7-374E-64AF47E59A74}"/>
              </a:ext>
            </a:extLst>
          </p:cNvPr>
          <p:cNvSpPr txBox="1"/>
          <p:nvPr userDrawn="1"/>
        </p:nvSpPr>
        <p:spPr>
          <a:xfrm>
            <a:off x="6711702" y="4840514"/>
            <a:ext cx="2279522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/>
              <a:t>National Laboratory of the Rockies</a:t>
            </a:r>
            <a:r>
              <a:rPr lang="en-US" sz="750" baseline="0"/>
              <a:t>    </a:t>
            </a:r>
            <a:r>
              <a:rPr lang="en-US" sz="750"/>
              <a:t>|    </a:t>
            </a:r>
            <a:fld id="{BFD71CF8-5198-8441-A7C0-DC22FD64CBE4}" type="slidenum">
              <a:rPr lang="en-US" sz="750" smtClean="0"/>
              <a:pPr marL="0" marR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7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AF29AB-E90C-35E5-C314-CBAD0251E7CA}"/>
              </a:ext>
            </a:extLst>
          </p:cNvPr>
          <p:cNvSpPr/>
          <p:nvPr userDrawn="1"/>
        </p:nvSpPr>
        <p:spPr>
          <a:xfrm>
            <a:off x="0" y="-1"/>
            <a:ext cx="609600" cy="57243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20">
            <a:extLst>
              <a:ext uri="{FF2B5EF4-FFF2-40B4-BE49-F238E27FC236}">
                <a16:creationId xmlns:a16="http://schemas.microsoft.com/office/drawing/2014/main" id="{00449A00-754D-EE0E-07D3-48EB1CD07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0"/>
            <a:ext cx="3447142" cy="1146406"/>
          </a:xfrm>
          <a:prstGeom prst="round2DiagRect">
            <a:avLst/>
          </a:prstGeom>
          <a:solidFill>
            <a:schemeClr val="tx2"/>
          </a:solidFill>
        </p:spPr>
        <p:txBody>
          <a:bodyPr anchor="ctr" anchorCtr="0"/>
          <a:lstStyle>
            <a:lvl1pPr algn="ctr">
              <a:lnSpc>
                <a:spcPct val="100000"/>
              </a:lnSpc>
              <a:defRPr sz="2500"/>
            </a:lvl1pPr>
          </a:lstStyle>
          <a:p>
            <a:r>
              <a:rPr lang="en-US" dirty="0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7986265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Sim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4A4911-4C23-B519-53D2-40F4FD69C5F7}"/>
              </a:ext>
            </a:extLst>
          </p:cNvPr>
          <p:cNvCxnSpPr/>
          <p:nvPr userDrawn="1"/>
        </p:nvCxnSpPr>
        <p:spPr>
          <a:xfrm>
            <a:off x="3741647" y="1939062"/>
            <a:ext cx="4955659" cy="0"/>
          </a:xfrm>
          <a:prstGeom prst="line">
            <a:avLst/>
          </a:prstGeom>
          <a:ln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497201F-2325-50C4-3A4D-2A3C2E245D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53295" y="2572506"/>
            <a:ext cx="4607032" cy="210217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400"/>
              </a:spcBef>
              <a:buNone/>
              <a:defRPr sz="10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2FE13-7614-F461-FEC5-BC5364F16E62}"/>
              </a:ext>
            </a:extLst>
          </p:cNvPr>
          <p:cNvSpPr txBox="1"/>
          <p:nvPr userDrawn="1"/>
        </p:nvSpPr>
        <p:spPr>
          <a:xfrm>
            <a:off x="3636832" y="2092242"/>
            <a:ext cx="2116667" cy="330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solidFill>
                  <a:srgbClr val="333333"/>
                </a:solidFill>
              </a:rPr>
              <a:t>  </a:t>
            </a:r>
            <a:r>
              <a:rPr lang="en-US" b="1" dirty="0" err="1">
                <a:solidFill>
                  <a:srgbClr val="333333"/>
                </a:solidFill>
              </a:rPr>
              <a:t>www.nlr.gov</a:t>
            </a:r>
            <a:endParaRPr lang="en-US" b="1" dirty="0">
              <a:solidFill>
                <a:srgbClr val="333333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9E7E7FB3-9C50-1309-6275-7CB77558E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5556" y="442061"/>
            <a:ext cx="4606936" cy="1310715"/>
          </a:xfrm>
          <a:prstGeom prst="rect">
            <a:avLst/>
          </a:prstGeom>
          <a:noFill/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100000"/>
              </a:lnSpc>
              <a:defRPr sz="35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Q&amp;A or 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0F568-9645-9157-18B1-84EDAD5A5F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5511" y="4149284"/>
            <a:ext cx="2897704" cy="49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56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- Simple with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4A4911-4C23-B519-53D2-40F4FD69C5F7}"/>
              </a:ext>
            </a:extLst>
          </p:cNvPr>
          <p:cNvCxnSpPr/>
          <p:nvPr userDrawn="1"/>
        </p:nvCxnSpPr>
        <p:spPr>
          <a:xfrm>
            <a:off x="3741647" y="1939062"/>
            <a:ext cx="4955659" cy="0"/>
          </a:xfrm>
          <a:prstGeom prst="line">
            <a:avLst/>
          </a:prstGeom>
          <a:ln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0497201F-2325-50C4-3A4D-2A3C2E245D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53295" y="2572506"/>
            <a:ext cx="4607032" cy="210217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400"/>
              </a:spcBef>
              <a:buNone/>
              <a:defRPr sz="10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Publication Number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42FE13-7614-F461-FEC5-BC5364F16E62}"/>
              </a:ext>
            </a:extLst>
          </p:cNvPr>
          <p:cNvSpPr txBox="1"/>
          <p:nvPr userDrawn="1"/>
        </p:nvSpPr>
        <p:spPr>
          <a:xfrm>
            <a:off x="3636832" y="2092242"/>
            <a:ext cx="2116667" cy="33000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solidFill>
                  <a:srgbClr val="333333"/>
                </a:solidFill>
              </a:rPr>
              <a:t>  </a:t>
            </a:r>
            <a:r>
              <a:rPr lang="en-US" b="1" dirty="0" err="1">
                <a:solidFill>
                  <a:srgbClr val="333333"/>
                </a:solidFill>
              </a:rPr>
              <a:t>www.nlr.gov</a:t>
            </a:r>
            <a:endParaRPr lang="en-US" b="1" dirty="0">
              <a:solidFill>
                <a:srgbClr val="333333"/>
              </a:solidFill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9E7E7FB3-9C50-1309-6275-7CB77558E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5556" y="442061"/>
            <a:ext cx="4606936" cy="1310715"/>
          </a:xfrm>
          <a:prstGeom prst="rect">
            <a:avLst/>
          </a:prstGeom>
          <a:noFill/>
        </p:spPr>
        <p:txBody>
          <a:bodyPr lIns="0" tIns="0" rIns="0" bIns="0" anchor="b" anchorCtr="0">
            <a:normAutofit/>
          </a:bodyPr>
          <a:lstStyle>
            <a:lvl1pPr algn="l">
              <a:lnSpc>
                <a:spcPct val="100000"/>
              </a:lnSpc>
              <a:defRPr sz="35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Q&amp;A or 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0F568-9645-9157-18B1-84EDAD5A5FA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5511" y="4149284"/>
            <a:ext cx="2897704" cy="498785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C044B2B2-183F-DA2E-AE51-E9D5286F338A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0880" y="442060"/>
            <a:ext cx="2897704" cy="4205995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670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352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3061E-7711-4552-AAA9-0C165E333D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850" y="0"/>
            <a:ext cx="9140299" cy="51435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23C131E-FFC9-8DEE-6F27-4EC7AF908DA0}"/>
              </a:ext>
            </a:extLst>
          </p:cNvPr>
          <p:cNvSpPr/>
          <p:nvPr userDrawn="1"/>
        </p:nvSpPr>
        <p:spPr>
          <a:xfrm flipH="1">
            <a:off x="4126833" y="1293237"/>
            <a:ext cx="5017167" cy="3066111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C5116-F344-6538-095F-2422DB67E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875" y="1487284"/>
            <a:ext cx="4444369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Q&amp;A or 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E0CFF-97E6-4CAB-9B8B-8E18EC82F557}"/>
              </a:ext>
            </a:extLst>
          </p:cNvPr>
          <p:cNvSpPr txBox="1"/>
          <p:nvPr userDrawn="1"/>
        </p:nvSpPr>
        <p:spPr>
          <a:xfrm>
            <a:off x="467454" y="4830962"/>
            <a:ext cx="2093495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solidFill>
                  <a:schemeClr val="bg1">
                    <a:lumMod val="50000"/>
                  </a:schemeClr>
                </a:solidFill>
              </a:rPr>
              <a:t>Photo from Getty Images 181828180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F52A3BF-F794-7340-9C04-F11D68FCB6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5726" y="2423344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err="1"/>
              <a:t>www.nlr.gov</a:t>
            </a:r>
            <a:endParaRPr lang="en-US"/>
          </a:p>
          <a:p>
            <a:pPr lvl="0"/>
            <a:r>
              <a:rPr lang="en-US"/>
              <a:t>Publication Number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DFF9FF-53E1-D25C-5627-9792F8CCFD87}"/>
              </a:ext>
            </a:extLst>
          </p:cNvPr>
          <p:cNvCxnSpPr>
            <a:cxnSpLocks/>
          </p:cNvCxnSpPr>
          <p:nvPr userDrawn="1"/>
        </p:nvCxnSpPr>
        <p:spPr>
          <a:xfrm>
            <a:off x="4325726" y="3359812"/>
            <a:ext cx="4496935" cy="0"/>
          </a:xfrm>
          <a:prstGeom prst="line">
            <a:avLst/>
          </a:prstGeom>
          <a:ln w="127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63A909-1731-94D6-E787-139FBA2EC8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18215" y="3644672"/>
            <a:ext cx="2368299" cy="40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85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d Slide - photo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33061E-7711-4552-AAA9-0C165E333D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850" y="0"/>
            <a:ext cx="9140299" cy="5143500"/>
          </a:xfrm>
          <a:prstGeom prst="rect">
            <a:avLst/>
          </a:prstGeom>
        </p:spPr>
      </p:pic>
      <p:sp>
        <p:nvSpPr>
          <p:cNvPr id="6" name="Round Single Corner Rectangle 5">
            <a:extLst>
              <a:ext uri="{FF2B5EF4-FFF2-40B4-BE49-F238E27FC236}">
                <a16:creationId xmlns:a16="http://schemas.microsoft.com/office/drawing/2014/main" id="{223C131E-FFC9-8DEE-6F27-4EC7AF908DA0}"/>
              </a:ext>
            </a:extLst>
          </p:cNvPr>
          <p:cNvSpPr/>
          <p:nvPr userDrawn="1"/>
        </p:nvSpPr>
        <p:spPr>
          <a:xfrm flipH="1">
            <a:off x="4126833" y="1293237"/>
            <a:ext cx="5017167" cy="3066111"/>
          </a:xfrm>
          <a:prstGeom prst="round1Rect">
            <a:avLst/>
          </a:prstGeom>
          <a:solidFill>
            <a:schemeClr val="accent1">
              <a:alpha val="8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sz="300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C5116-F344-6538-095F-2422DB67E6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3875" y="1487284"/>
            <a:ext cx="4444369" cy="908383"/>
          </a:xfrm>
          <a:prstGeom prst="rect">
            <a:avLst/>
          </a:prstGeom>
        </p:spPr>
        <p:txBody>
          <a:bodyPr lIns="182880" anchor="ctr">
            <a:normAutofit/>
          </a:bodyPr>
          <a:lstStyle>
            <a:lvl1pPr algn="l">
              <a:lnSpc>
                <a:spcPct val="100000"/>
              </a:lnSpc>
              <a:defRPr sz="2800" b="1"/>
            </a:lvl1pPr>
          </a:lstStyle>
          <a:p>
            <a:r>
              <a:rPr lang="en-US" dirty="0"/>
              <a:t>Q&amp;A or 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E0CFF-97E6-4CAB-9B8B-8E18EC82F557}"/>
              </a:ext>
            </a:extLst>
          </p:cNvPr>
          <p:cNvSpPr txBox="1"/>
          <p:nvPr userDrawn="1"/>
        </p:nvSpPr>
        <p:spPr>
          <a:xfrm>
            <a:off x="467454" y="4830962"/>
            <a:ext cx="2093495" cy="2000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600" i="1">
                <a:solidFill>
                  <a:schemeClr val="bg1">
                    <a:lumMod val="50000"/>
                  </a:schemeClr>
                </a:solidFill>
              </a:rPr>
              <a:t>Photo from Getty Images 181828180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F52A3BF-F794-7340-9C04-F11D68FCB6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25726" y="2423344"/>
            <a:ext cx="4496935" cy="804394"/>
          </a:xfrm>
          <a:noFill/>
        </p:spPr>
        <p:txBody>
          <a:bodyPr lIns="182880" tIns="128016" rIns="182880" bIns="100584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err="1"/>
              <a:t>www.nlr.gov</a:t>
            </a:r>
            <a:endParaRPr lang="en-US"/>
          </a:p>
          <a:p>
            <a:pPr lvl="0"/>
            <a:r>
              <a:rPr lang="en-US"/>
              <a:t>Publication Number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9DFF9FF-53E1-D25C-5627-9792F8CCFD87}"/>
              </a:ext>
            </a:extLst>
          </p:cNvPr>
          <p:cNvCxnSpPr>
            <a:cxnSpLocks/>
          </p:cNvCxnSpPr>
          <p:nvPr userDrawn="1"/>
        </p:nvCxnSpPr>
        <p:spPr>
          <a:xfrm>
            <a:off x="4325726" y="3359812"/>
            <a:ext cx="4496935" cy="0"/>
          </a:xfrm>
          <a:prstGeom prst="line">
            <a:avLst/>
          </a:prstGeom>
          <a:ln w="12700" cap="rnd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F63A909-1731-94D6-E787-139FBA2EC8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18215" y="3644672"/>
            <a:ext cx="2368299" cy="407658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0EF0DFD7-2592-C986-4BDD-21849441F214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370880" y="1293237"/>
            <a:ext cx="3382048" cy="3066111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234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4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48435"/>
            <a:ext cx="8229600" cy="326435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47BBE-33F2-96B2-D2F7-6564EA826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9CACA-C06A-412A-AB55-4BD6CBF84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32" r:id="rId2"/>
    <p:sldLayoutId id="2147483734" r:id="rId3"/>
    <p:sldLayoutId id="2147483727" r:id="rId4"/>
    <p:sldLayoutId id="2147483736" r:id="rId5"/>
    <p:sldLayoutId id="2147483737" r:id="rId6"/>
    <p:sldLayoutId id="2147483745" r:id="rId7"/>
    <p:sldLayoutId id="2147483654" r:id="rId8"/>
    <p:sldLayoutId id="2147483795" r:id="rId9"/>
    <p:sldLayoutId id="2147483743" r:id="rId10"/>
    <p:sldLayoutId id="2147483707" r:id="rId11"/>
    <p:sldLayoutId id="2147483653" r:id="rId12"/>
    <p:sldLayoutId id="2147483667" r:id="rId13"/>
    <p:sldLayoutId id="2147483669" r:id="rId14"/>
    <p:sldLayoutId id="2147483666" r:id="rId15"/>
    <p:sldLayoutId id="2147483749" r:id="rId16"/>
    <p:sldLayoutId id="2147483676" r:id="rId17"/>
    <p:sldLayoutId id="2147483678" r:id="rId18"/>
    <p:sldLayoutId id="2147483680" r:id="rId19"/>
    <p:sldLayoutId id="2147483717" r:id="rId20"/>
    <p:sldLayoutId id="2147483657" r:id="rId21"/>
    <p:sldLayoutId id="2147483738" r:id="rId22"/>
    <p:sldLayoutId id="2147483740" r:id="rId23"/>
    <p:sldLayoutId id="2147483751" r:id="rId24"/>
    <p:sldLayoutId id="2147483752" r:id="rId25"/>
    <p:sldLayoutId id="2147483753" r:id="rId26"/>
    <p:sldLayoutId id="2147483754" r:id="rId27"/>
    <p:sldLayoutId id="2147483755" r:id="rId28"/>
    <p:sldLayoutId id="2147483756" r:id="rId29"/>
    <p:sldLayoutId id="2147483757" r:id="rId30"/>
    <p:sldLayoutId id="2147483758" r:id="rId31"/>
    <p:sldLayoutId id="2147483759" r:id="rId32"/>
    <p:sldLayoutId id="2147483760" r:id="rId33"/>
    <p:sldLayoutId id="2147483761" r:id="rId34"/>
    <p:sldLayoutId id="2147483762" r:id="rId35"/>
    <p:sldLayoutId id="2147483763" r:id="rId36"/>
    <p:sldLayoutId id="2147483764" r:id="rId37"/>
    <p:sldLayoutId id="2147483765" r:id="rId38"/>
    <p:sldLayoutId id="2147483766" r:id="rId39"/>
    <p:sldLayoutId id="2147483767" r:id="rId40"/>
    <p:sldLayoutId id="2147483768" r:id="rId41"/>
    <p:sldLayoutId id="2147483769" r:id="rId42"/>
    <p:sldLayoutId id="2147483770" r:id="rId43"/>
    <p:sldLayoutId id="2147483771" r:id="rId44"/>
    <p:sldLayoutId id="2147483772" r:id="rId45"/>
    <p:sldLayoutId id="2147483773" r:id="rId46"/>
    <p:sldLayoutId id="2147483774" r:id="rId47"/>
    <p:sldLayoutId id="2147483775" r:id="rId48"/>
    <p:sldLayoutId id="2147483776" r:id="rId49"/>
    <p:sldLayoutId id="2147483777" r:id="rId50"/>
    <p:sldLayoutId id="2147483778" r:id="rId51"/>
    <p:sldLayoutId id="2147483779" r:id="rId52"/>
    <p:sldLayoutId id="2147483780" r:id="rId53"/>
    <p:sldLayoutId id="2147483781" r:id="rId54"/>
    <p:sldLayoutId id="2147483782" r:id="rId55"/>
    <p:sldLayoutId id="2147483783" r:id="rId56"/>
    <p:sldLayoutId id="2147483784" r:id="rId57"/>
    <p:sldLayoutId id="2147483785" r:id="rId58"/>
    <p:sldLayoutId id="2147483786" r:id="rId59"/>
    <p:sldLayoutId id="2147483787" r:id="rId60"/>
    <p:sldLayoutId id="2147483788" r:id="rId61"/>
    <p:sldLayoutId id="2147483789" r:id="rId62"/>
    <p:sldLayoutId id="2147483790" r:id="rId63"/>
    <p:sldLayoutId id="2147483791" r:id="rId64"/>
    <p:sldLayoutId id="2147483792" r:id="rId65"/>
    <p:sldLayoutId id="2147483796" r:id="rId66"/>
    <p:sldLayoutId id="2147483793" r:id="rId67"/>
    <p:sldLayoutId id="2147483797" r:id="rId68"/>
  </p:sldLayoutIdLst>
  <p:hf hdr="0" dt="0"/>
  <p:txStyles>
    <p:titleStyle>
      <a:lvl1pPr marL="0" algn="ctr" defTabSz="457200" rtl="0" eaLnBrk="1" latinLnBrk="0" hangingPunct="1">
        <a:lnSpc>
          <a:spcPct val="85000"/>
        </a:lnSpc>
        <a:spcBef>
          <a:spcPts val="0"/>
        </a:spcBef>
        <a:buNone/>
        <a:defRPr sz="2400" kern="1200" spc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19456" indent="-219456" algn="l" defTabSz="457200" rtl="0" eaLnBrk="1" latinLnBrk="0" hangingPunct="1">
        <a:spcBef>
          <a:spcPts val="0"/>
        </a:spcBef>
        <a:spcAft>
          <a:spcPts val="900"/>
        </a:spcAft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208" indent="-182880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◦"/>
        <a:tabLst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77240" indent="-182880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–"/>
        <a:tabLst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33272" indent="-164592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»"/>
        <a:tabLst/>
        <a:defRPr sz="1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88720" indent="-100584" algn="l" defTabSz="457200" rtl="0" eaLnBrk="1" latinLnBrk="0" hangingPunct="1">
        <a:spcBef>
          <a:spcPts val="0"/>
        </a:spcBef>
        <a:spcAft>
          <a:spcPts val="900"/>
        </a:spcAft>
        <a:buFont typeface="System Font Regular"/>
        <a:buChar char="∙"/>
        <a:tabLst/>
        <a:defRPr sz="1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35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0D2B34-9391-B045-F4F2-2FCB4F1FB1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16815" y="3444050"/>
            <a:ext cx="4496935" cy="804394"/>
          </a:xfrm>
        </p:spPr>
        <p:txBody>
          <a:bodyPr/>
          <a:lstStyle/>
          <a:p>
            <a:r>
              <a:rPr lang="en-US" dirty="0"/>
              <a:t>Shashank Yellapantula, Deepthi </a:t>
            </a:r>
            <a:r>
              <a:rPr lang="en-US" dirty="0" err="1"/>
              <a:t>Vaidhynathan</a:t>
            </a:r>
            <a:r>
              <a:rPr lang="en-US" dirty="0"/>
              <a:t> &amp; Kumaraguru Prabakar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EFAA7C-7137-6956-E599-BBF788D46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101" y="2298701"/>
            <a:ext cx="5175250" cy="1084948"/>
          </a:xfrm>
        </p:spPr>
        <p:txBody>
          <a:bodyPr>
            <a:normAutofit fontScale="90000"/>
          </a:bodyPr>
          <a:lstStyle/>
          <a:p>
            <a:r>
              <a:rPr lang="en-US" dirty="0"/>
              <a:t>Gas Turbine Modeling for Behind the Meter Power Generation for Data Centers</a:t>
            </a:r>
          </a:p>
        </p:txBody>
      </p:sp>
    </p:spTree>
    <p:extLst>
      <p:ext uri="{BB962C8B-B14F-4D97-AF65-F5344CB8AC3E}">
        <p14:creationId xmlns:p14="http://schemas.microsoft.com/office/powerpoint/2010/main" val="86800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A27C6C-6626-FCF9-E3DE-77A78B58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31200" cy="901700"/>
          </a:xfrm>
        </p:spPr>
        <p:txBody>
          <a:bodyPr/>
          <a:lstStyle/>
          <a:p>
            <a:r>
              <a:rPr lang="en-US" dirty="0"/>
              <a:t>Aeroderivative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9710AF-7F3A-4529-714D-19C8D1455461}"/>
              </a:ext>
            </a:extLst>
          </p:cNvPr>
          <p:cNvSpPr txBox="1"/>
          <p:nvPr/>
        </p:nvSpPr>
        <p:spPr>
          <a:xfrm>
            <a:off x="63500" y="1018176"/>
            <a:ext cx="9017000" cy="13234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28600" algn="l"/>
            <a:r>
              <a:rPr lang="en-US" sz="1600" dirty="0"/>
              <a:t>Developed a flexible framework in python to study various gas turbine cycles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Model both simple and combined cycles with a heat-recovery steam cycle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600" dirty="0"/>
              <a:t>Can also be used as a dynamic dispatch model for a fleet of </a:t>
            </a:r>
            <a:r>
              <a:rPr lang="en-US" sz="1600" dirty="0" err="1"/>
              <a:t>aeroderivatives</a:t>
            </a:r>
            <a:endParaRPr lang="en-US" sz="16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923123-52C3-0E4A-17B9-E90C6A1D7046}"/>
              </a:ext>
            </a:extLst>
          </p:cNvPr>
          <p:cNvGrpSpPr/>
          <p:nvPr/>
        </p:nvGrpSpPr>
        <p:grpSpPr>
          <a:xfrm>
            <a:off x="187285" y="3111043"/>
            <a:ext cx="3463965" cy="1800479"/>
            <a:chOff x="193635" y="3190996"/>
            <a:chExt cx="3463965" cy="180047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5A83809-5785-7729-1A66-D08C49396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3635" y="3375662"/>
              <a:ext cx="3463965" cy="1615813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4381B6-325F-07A9-50EC-BDD7513BC3B8}"/>
                </a:ext>
              </a:extLst>
            </p:cNvPr>
            <p:cNvSpPr txBox="1"/>
            <p:nvPr/>
          </p:nvSpPr>
          <p:spPr>
            <a:xfrm>
              <a:off x="431800" y="3190996"/>
              <a:ext cx="13779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dirty="0"/>
                <a:t>LM2500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34E525-4E82-16CF-DEC8-189189CBA44F}"/>
              </a:ext>
            </a:extLst>
          </p:cNvPr>
          <p:cNvSpPr txBox="1"/>
          <p:nvPr/>
        </p:nvSpPr>
        <p:spPr>
          <a:xfrm>
            <a:off x="3879850" y="3111043"/>
            <a:ext cx="52006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00" dirty="0"/>
              <a:t>LM2500 modeled as multi-shaft system with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HP gas-generator rotor: the high-speed compressor/turbine core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PT/generator rotor: the power turbine and electrical generator, tied to 60 Hz power at 3600 rpm.</a:t>
            </a:r>
          </a:p>
        </p:txBody>
      </p:sp>
    </p:spTree>
    <p:extLst>
      <p:ext uri="{BB962C8B-B14F-4D97-AF65-F5344CB8AC3E}">
        <p14:creationId xmlns:p14="http://schemas.microsoft.com/office/powerpoint/2010/main" val="52659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FC8CD-D05D-9FE5-1336-9DB75BFFC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F23322-24D9-42A8-99EE-287121E2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31200" cy="901700"/>
          </a:xfrm>
        </p:spPr>
        <p:txBody>
          <a:bodyPr/>
          <a:lstStyle/>
          <a:p>
            <a:r>
              <a:rPr lang="en-US" dirty="0"/>
              <a:t>GGOV Governor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FA5982-2CCD-5330-9FE8-87BB9B1D16F1}"/>
              </a:ext>
            </a:extLst>
          </p:cNvPr>
          <p:cNvSpPr txBox="1"/>
          <p:nvPr/>
        </p:nvSpPr>
        <p:spPr>
          <a:xfrm>
            <a:off x="95916" y="1016710"/>
            <a:ext cx="2794355" cy="369332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Governor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722D5-7C09-F9CA-81F8-7694627AC4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85" b="8498"/>
          <a:stretch>
            <a:fillRect/>
          </a:stretch>
        </p:blipFill>
        <p:spPr>
          <a:xfrm>
            <a:off x="3157483" y="901700"/>
            <a:ext cx="5455186" cy="42205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8237C4-B05C-9E1A-D644-5DE569324431}"/>
              </a:ext>
            </a:extLst>
          </p:cNvPr>
          <p:cNvSpPr txBox="1"/>
          <p:nvPr/>
        </p:nvSpPr>
        <p:spPr>
          <a:xfrm>
            <a:off x="95916" y="1611603"/>
            <a:ext cx="30615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Implementation based on the IEEE PES GGOV model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Include three competing controller with low-value select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Speed/power governor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Acceleration limiter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Temperature limiter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36768C-6AC6-1352-4D73-98ED3E75E9E0}"/>
              </a:ext>
            </a:extLst>
          </p:cNvPr>
          <p:cNvSpPr txBox="1"/>
          <p:nvPr/>
        </p:nvSpPr>
        <p:spPr>
          <a:xfrm>
            <a:off x="531331" y="4357891"/>
            <a:ext cx="7931082" cy="5847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Developed a unique capability allowing us to study various power generation &amp; storage options to simulate the power demand from various data centers</a:t>
            </a:r>
          </a:p>
        </p:txBody>
      </p:sp>
    </p:spTree>
    <p:extLst>
      <p:ext uri="{BB962C8B-B14F-4D97-AF65-F5344CB8AC3E}">
        <p14:creationId xmlns:p14="http://schemas.microsoft.com/office/powerpoint/2010/main" val="373871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E6685-91C6-290B-802A-DBDB84375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01C1EB-E529-CF31-B9D9-79A6B4D35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31200" cy="901700"/>
          </a:xfrm>
        </p:spPr>
        <p:txBody>
          <a:bodyPr/>
          <a:lstStyle/>
          <a:p>
            <a:r>
              <a:rPr lang="en-US" dirty="0"/>
              <a:t>Data Center Load: Islanding Example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B5DE5E-208F-A777-A1D0-E64D02C72AAB}"/>
              </a:ext>
            </a:extLst>
          </p:cNvPr>
          <p:cNvSpPr txBox="1"/>
          <p:nvPr/>
        </p:nvSpPr>
        <p:spPr>
          <a:xfrm>
            <a:off x="185438" y="1014329"/>
            <a:ext cx="2794355" cy="36933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Data Center Load Profile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B357CA-6B47-BB50-35E2-F99942BB1896}"/>
              </a:ext>
            </a:extLst>
          </p:cNvPr>
          <p:cNvSpPr txBox="1"/>
          <p:nvPr/>
        </p:nvSpPr>
        <p:spPr>
          <a:xfrm>
            <a:off x="0" y="1496291"/>
            <a:ext cx="29797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Per GPU telemetry recorded every 100ms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Used a 2h, 35 active GPU trace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Scaled it to match power demand of 18 MW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Worst case scenario of electrical load from a data center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8D607B-D9B7-37E4-E266-53D70CED92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05" b="33388"/>
          <a:stretch>
            <a:fillRect/>
          </a:stretch>
        </p:blipFill>
        <p:spPr>
          <a:xfrm>
            <a:off x="3132971" y="901700"/>
            <a:ext cx="6011029" cy="27823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CBEBBE-99B2-D684-C235-B612A193A03E}"/>
              </a:ext>
            </a:extLst>
          </p:cNvPr>
          <p:cNvSpPr txBox="1"/>
          <p:nvPr/>
        </p:nvSpPr>
        <p:spPr>
          <a:xfrm>
            <a:off x="2825750" y="3863127"/>
            <a:ext cx="6256250" cy="83099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/>
              <a:t>Fleet with one (N=1) and two (N=2) LM2500s trip around these stressful events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/>
              <a:t>N = 3 and N = 4 ride through these events</a:t>
            </a:r>
          </a:p>
        </p:txBody>
      </p:sp>
    </p:spTree>
    <p:extLst>
      <p:ext uri="{BB962C8B-B14F-4D97-AF65-F5344CB8AC3E}">
        <p14:creationId xmlns:p14="http://schemas.microsoft.com/office/powerpoint/2010/main" val="376606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933BE-5DCE-86B0-35C5-796E40A3D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8C0E34-A69E-F771-C23B-1A7D85098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31200" cy="901700"/>
          </a:xfrm>
        </p:spPr>
        <p:txBody>
          <a:bodyPr/>
          <a:lstStyle/>
          <a:p>
            <a:r>
              <a:rPr lang="en-US" dirty="0"/>
              <a:t>Fleet Modeling – Shaft Life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E1E16A-DD51-2FAF-0AC4-88F04425CEFD}"/>
              </a:ext>
            </a:extLst>
          </p:cNvPr>
          <p:cNvSpPr txBox="1"/>
          <p:nvPr/>
        </p:nvSpPr>
        <p:spPr>
          <a:xfrm>
            <a:off x="27513" y="899391"/>
            <a:ext cx="439932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Shaft Torque can be used to investigate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High Cycle Fatigue (HCF): fast ringing of the PT-generator shaft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Low Cycle Fatigue (LCF): slow torque swings caused by turbine governor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Need exact shaft design and material properties from vendor to calculate impact on life.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Between N=3/4 we observe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D</a:t>
            </a:r>
            <a:r>
              <a:rPr lang="en-US" sz="1600" baseline="-25000" dirty="0"/>
              <a:t>HCF</a:t>
            </a:r>
            <a:r>
              <a:rPr lang="en-US" sz="1600" dirty="0"/>
              <a:t> damage reduction N=3 -&gt; N=4:  49.9x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D</a:t>
            </a:r>
            <a:r>
              <a:rPr lang="en-US" sz="1600" baseline="-25000" dirty="0"/>
              <a:t>LCF</a:t>
            </a:r>
            <a:r>
              <a:rPr lang="en-US" sz="1600" dirty="0"/>
              <a:t> damage reduction N=3 -&gt; N=4:   3.7x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52CCC-C590-6E49-EB96-D447EC7F5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588" y="2917352"/>
            <a:ext cx="3953705" cy="2240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145DCC-C7E7-17CA-060F-073870678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013" y="893041"/>
            <a:ext cx="3950934" cy="223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575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FDF54-7BD6-DDDA-8CFA-ED34C8F5B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6491DC-DE04-2A63-5484-1895D40D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31200" cy="901700"/>
          </a:xfrm>
        </p:spPr>
        <p:txBody>
          <a:bodyPr/>
          <a:lstStyle/>
          <a:p>
            <a:r>
              <a:rPr lang="en-US" dirty="0"/>
              <a:t>Fleet Modeling – Shaft Life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60959D-C04C-6E41-703F-D3AD50D5ED7A}"/>
              </a:ext>
            </a:extLst>
          </p:cNvPr>
          <p:cNvSpPr txBox="1"/>
          <p:nvPr/>
        </p:nvSpPr>
        <p:spPr>
          <a:xfrm>
            <a:off x="27513" y="899391"/>
            <a:ext cx="4399328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dirty="0"/>
              <a:t>Shaft Torque can be used to investigate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High Cycle Fatigue (HCF): fast ringing of the PT-generator shaft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Low Cycle Fatigue (LCF): slow torque swings caused by turbine governor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Need exact shaft design and material properties from vendor to calculate impact on life.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Between N=3/4 we observe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D</a:t>
            </a:r>
            <a:r>
              <a:rPr lang="en-US" sz="1600" baseline="-25000" dirty="0"/>
              <a:t>HCF</a:t>
            </a:r>
            <a:r>
              <a:rPr lang="en-US" sz="1600" dirty="0"/>
              <a:t> damage reduction N=3 -&gt; N=4:  49.9x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600" dirty="0"/>
              <a:t>D</a:t>
            </a:r>
            <a:r>
              <a:rPr lang="en-US" sz="1600" baseline="-25000" dirty="0"/>
              <a:t>LCF</a:t>
            </a:r>
            <a:r>
              <a:rPr lang="en-US" sz="1600" dirty="0"/>
              <a:t> damage reduction N=3 -&gt; N=4:   3.7x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8F970-FB46-9FF2-E635-D83F134B5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588" y="2917352"/>
            <a:ext cx="3953705" cy="22402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214123-D8DE-141B-C452-069341CBB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013" y="893041"/>
            <a:ext cx="3950934" cy="22387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8BEA08-1D58-98FB-6E72-A4BEC94A43AC}"/>
              </a:ext>
            </a:extLst>
          </p:cNvPr>
          <p:cNvSpPr txBox="1"/>
          <p:nvPr/>
        </p:nvSpPr>
        <p:spPr>
          <a:xfrm>
            <a:off x="243427" y="4447021"/>
            <a:ext cx="8445471" cy="584775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Repeated heating and cooling can shorten the life of hot-gas-path components through thermal and thermomechanical fatigue</a:t>
            </a:r>
          </a:p>
        </p:txBody>
      </p:sp>
    </p:spTree>
    <p:extLst>
      <p:ext uri="{BB962C8B-B14F-4D97-AF65-F5344CB8AC3E}">
        <p14:creationId xmlns:p14="http://schemas.microsoft.com/office/powerpoint/2010/main" val="1940663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A9D9D3C-DD07-959E-A530-2BB412BB0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AB5E231-31C1-F77A-3EC4-87A062B423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 err="1"/>
              <a:t>www.nlr.gov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925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LR Color Palette">
      <a:dk1>
        <a:srgbClr val="000000"/>
      </a:dk1>
      <a:lt1>
        <a:srgbClr val="FFFFFF"/>
      </a:lt1>
      <a:dk2>
        <a:srgbClr val="0075BB"/>
      </a:dk2>
      <a:lt2>
        <a:srgbClr val="F6F3F1"/>
      </a:lt2>
      <a:accent1>
        <a:srgbClr val="003A69"/>
      </a:accent1>
      <a:accent2>
        <a:srgbClr val="DB9728"/>
      </a:accent2>
      <a:accent3>
        <a:srgbClr val="D57C5C"/>
      </a:accent3>
      <a:accent4>
        <a:srgbClr val="872C15"/>
      </a:accent4>
      <a:accent5>
        <a:srgbClr val="819E7E"/>
      </a:accent5>
      <a:accent6>
        <a:srgbClr val="1A584D"/>
      </a:accent6>
      <a:hlink>
        <a:srgbClr val="0076BA"/>
      </a:hlink>
      <a:folHlink>
        <a:srgbClr val="00A3E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EEEEE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BFC83EEF-DFEF-40C7-91F5-3820BC52412F}" vid="{725033FC-8D82-4411-85D0-E9FF64401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782f7b1-8364-4447-8e52-525c4c5c6261" xsi:nil="true"/>
    <lcf76f155ced4ddcb4097134ff3c332f xmlns="36a528ad-9b7f-43a7-930e-ee7404d5b59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8AD6BD0905FA4F8D7E240DF78D6720" ma:contentTypeVersion="16" ma:contentTypeDescription="Create a new document." ma:contentTypeScope="" ma:versionID="9579203ebe2f6644415a60f35511d7aa">
  <xsd:schema xmlns:xsd="http://www.w3.org/2001/XMLSchema" xmlns:xs="http://www.w3.org/2001/XMLSchema" xmlns:p="http://schemas.microsoft.com/office/2006/metadata/properties" xmlns:ns2="36a528ad-9b7f-43a7-930e-ee7404d5b59e" xmlns:ns3="7782f7b1-8364-4447-8e52-525c4c5c6261" targetNamespace="http://schemas.microsoft.com/office/2006/metadata/properties" ma:root="true" ma:fieldsID="555cabf9b2262d67248d99b9761da46e" ns2:_="" ns3:_="">
    <xsd:import namespace="36a528ad-9b7f-43a7-930e-ee7404d5b59e"/>
    <xsd:import namespace="7782f7b1-8364-4447-8e52-525c4c5c62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528ad-9b7f-43a7-930e-ee7404d5b59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834da80-57da-4863-8816-2e6886d1e8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782f7b1-8364-4447-8e52-525c4c5c626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70ac4acc-29c4-4207-ac0b-763f75a559ae}" ma:internalName="TaxCatchAll" ma:showField="CatchAllData" ma:web="7782f7b1-8364-4447-8e52-525c4c5c62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A21E120-7CDE-4D1D-A3AD-91354EA474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18BD344-6C98-486A-B4A8-58DE4D7C58C7}">
  <ds:schemaRefs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dcmitype/"/>
    <ds:schemaRef ds:uri="http://schemas.microsoft.com/office/2006/documentManagement/types"/>
    <ds:schemaRef ds:uri="7782f7b1-8364-4447-8e52-525c4c5c6261"/>
    <ds:schemaRef ds:uri="http://www.w3.org/XML/1998/namespace"/>
    <ds:schemaRef ds:uri="http://schemas.openxmlformats.org/package/2006/metadata/core-properties"/>
    <ds:schemaRef ds:uri="36a528ad-9b7f-43a7-930e-ee7404d5b59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994FAD5-EBA2-458A-9ADC-074ADFE879F7}">
  <ds:schemaRefs>
    <ds:schemaRef ds:uri="36a528ad-9b7f-43a7-930e-ee7404d5b59e"/>
    <ds:schemaRef ds:uri="7782f7b1-8364-4447-8e52-525c4c5c626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95965d95-ecc0-4720-b759-1f33c42ed7da}" enabled="1" method="Privileged" siteId="{a0f29d7e-28cd-4f54-8442-7885aee7c08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7654</TotalTime>
  <Words>410</Words>
  <Application>Microsoft Macintosh PowerPoint</Application>
  <PresentationFormat>On-screen Show (16:9)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System Font Regular</vt:lpstr>
      <vt:lpstr>Office Theme</vt:lpstr>
      <vt:lpstr>Gas Turbine Modeling for Behind the Meter Power Generation for Data Centers</vt:lpstr>
      <vt:lpstr>Aeroderivative Model</vt:lpstr>
      <vt:lpstr>GGOV Governor Model</vt:lpstr>
      <vt:lpstr>Data Center Load: Islanding Example</vt:lpstr>
      <vt:lpstr>Fleet Modeling – Shaft Life</vt:lpstr>
      <vt:lpstr>Fleet Modeling – Shaft Life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Use this presentation to effectively communicate the lab's impacts and capabilities.</dc:subject>
  <dc:creator>Yellapantula, Shashank</dc:creator>
  <cp:keywords/>
  <dc:description/>
  <cp:lastModifiedBy>Yellapantula, Shashank</cp:lastModifiedBy>
  <cp:revision>12</cp:revision>
  <cp:lastPrinted>2018-01-04T20:30:58Z</cp:lastPrinted>
  <dcterms:created xsi:type="dcterms:W3CDTF">2026-08-17T17:15:49Z</dcterms:created>
  <dcterms:modified xsi:type="dcterms:W3CDTF">2026-10-23T20:15:43Z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0x0101002F8AD6BD0905FA4F8D7E240DF78D6720</vt:lpwstr>
  </property>
</Properties>
</file>